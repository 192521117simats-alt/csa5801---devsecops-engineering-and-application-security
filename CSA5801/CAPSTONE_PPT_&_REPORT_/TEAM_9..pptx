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7"/>
  </p:notesMasterIdLst>
  <p:sldIdLst>
    <p:sldId id="256" r:id="rId3"/>
    <p:sldId id="272" r:id="rId4"/>
    <p:sldId id="257" r:id="rId5"/>
    <p:sldId id="273" r:id="rId6"/>
    <p:sldId id="274" r:id="rId7"/>
    <p:sldId id="269" r:id="rId8"/>
    <p:sldId id="275" r:id="rId9"/>
    <p:sldId id="276" r:id="rId10"/>
    <p:sldId id="277" r:id="rId11"/>
    <p:sldId id="278" r:id="rId12"/>
    <p:sldId id="290" r:id="rId13"/>
    <p:sldId id="280" r:id="rId14"/>
    <p:sldId id="291" r:id="rId15"/>
    <p:sldId id="292" r:id="rId16"/>
    <p:sldId id="293" r:id="rId17"/>
    <p:sldId id="281" r:id="rId18"/>
    <p:sldId id="294" r:id="rId19"/>
    <p:sldId id="295" r:id="rId20"/>
    <p:sldId id="284" r:id="rId21"/>
    <p:sldId id="286" r:id="rId22"/>
    <p:sldId id="287" r:id="rId23"/>
    <p:sldId id="288" r:id="rId24"/>
    <p:sldId id="296" r:id="rId25"/>
    <p:sldId id="265" r:id="rId26"/>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3268" autoAdjust="0"/>
  </p:normalViewPr>
  <p:slideViewPr>
    <p:cSldViewPr snapToGrid="0">
      <p:cViewPr>
        <p:scale>
          <a:sx n="75" d="100"/>
          <a:sy n="75" d="100"/>
        </p:scale>
        <p:origin x="974"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8/24/2026</a:t>
            </a:fld>
            <a:endParaRPr lang="en-US"/>
          </a:p>
        </p:txBody>
      </p:sp>
      <p:sp>
        <p:nvSpPr>
          <p:cNvPr id="4" name="Slide Image Placeholder 3"/>
          <p:cNvSpPr>
            <a:spLocks noGrp="1" noRot="1" noChangeAspect="1"/>
          </p:cNvSpPr>
          <p:nvPr>
            <p:ph type="sldImg" idx="2"/>
          </p:nvPr>
        </p:nvSpPr>
        <p:spPr>
          <a:xfrm>
            <a:off x="686372" y="1143000"/>
            <a:ext cx="5485257"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718" y="1122363"/>
            <a:ext cx="9142305"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3718" y="3602038"/>
            <a:ext cx="9142305"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ABB12CB-9A0B-4B3E-A07E-FC2E410EB1AD}"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ABB12CB-9A0B-4B3E-A07E-FC2E410EB1AD}"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696" y="1709738"/>
            <a:ext cx="10513651"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696" y="4589463"/>
            <a:ext cx="1051365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BB12CB-9A0B-4B3E-A07E-FC2E410EB1AD}"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045" y="1825625"/>
            <a:ext cx="518064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1056" y="1825625"/>
            <a:ext cx="518064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ABB12CB-9A0B-4B3E-A07E-FC2E410EB1AD}" type="datetimeFigureOut">
              <a:rPr lang="en-IN" smtClean="0"/>
              <a:t>24-08-2026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632" y="365125"/>
            <a:ext cx="10513651"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632" y="1681163"/>
            <a:ext cx="515683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632" y="2505075"/>
            <a:ext cx="515683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1056" y="1681163"/>
            <a:ext cx="518222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1056" y="2505075"/>
            <a:ext cx="518222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ABB12CB-9A0B-4B3E-A07E-FC2E410EB1AD}" type="datetimeFigureOut">
              <a:rPr lang="en-IN" smtClean="0"/>
              <a:t>24-08-2026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ABB12CB-9A0B-4B3E-A07E-FC2E410EB1AD}" type="datetimeFigureOut">
              <a:rPr lang="en-IN" smtClean="0"/>
              <a:t>24-08-2026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BB12CB-9A0B-4B3E-A07E-FC2E410EB1AD}" type="datetimeFigureOut">
              <a:rPr lang="en-IN" smtClean="0"/>
              <a:t>24-08-2026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632" y="457200"/>
            <a:ext cx="3931508"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2227" y="987425"/>
            <a:ext cx="6171056"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632" y="2057400"/>
            <a:ext cx="393150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ABB12CB-9A0B-4B3E-A07E-FC2E410EB1AD}" type="datetimeFigureOut">
              <a:rPr lang="en-IN" smtClean="0"/>
              <a:t>24-08-2026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632" y="457200"/>
            <a:ext cx="3931508"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2227" y="987425"/>
            <a:ext cx="617105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632" y="2057400"/>
            <a:ext cx="393150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ABB12CB-9A0B-4B3E-A07E-FC2E410EB1AD}" type="datetimeFigureOut">
              <a:rPr lang="en-IN" smtClean="0"/>
              <a:t>24-08-2026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ABB12CB-9A0B-4B3E-A07E-FC2E410EB1AD}"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3283" y="365125"/>
            <a:ext cx="2628413"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045" y="365125"/>
            <a:ext cx="773286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ABB12CB-9A0B-4B3E-A07E-FC2E410EB1AD}"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718" y="1122363"/>
            <a:ext cx="9142305"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3718" y="3602038"/>
            <a:ext cx="9142305"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ABB12CB-9A0B-4B3E-A07E-FC2E410EB1AD}"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ABB12CB-9A0B-4B3E-A07E-FC2E410EB1AD}"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696" y="1709738"/>
            <a:ext cx="10513651"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696" y="4589463"/>
            <a:ext cx="1051365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BB12CB-9A0B-4B3E-A07E-FC2E410EB1AD}"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045" y="1825625"/>
            <a:ext cx="518064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1056" y="1825625"/>
            <a:ext cx="518064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ABB12CB-9A0B-4B3E-A07E-FC2E410EB1AD}" type="datetimeFigureOut">
              <a:rPr lang="en-IN" smtClean="0"/>
              <a:t>24-08-2026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632" y="365125"/>
            <a:ext cx="10513651"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632" y="1681163"/>
            <a:ext cx="515683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632" y="2505075"/>
            <a:ext cx="515683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1056" y="1681163"/>
            <a:ext cx="518222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1056" y="2505075"/>
            <a:ext cx="518222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ABB12CB-9A0B-4B3E-A07E-FC2E410EB1AD}" type="datetimeFigureOut">
              <a:rPr lang="en-IN" smtClean="0"/>
              <a:t>24-08-2026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ABB12CB-9A0B-4B3E-A07E-FC2E410EB1AD}" type="datetimeFigureOut">
              <a:rPr lang="en-IN" smtClean="0"/>
              <a:t>24-08-2026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BB12CB-9A0B-4B3E-A07E-FC2E410EB1AD}" type="datetimeFigureOut">
              <a:rPr lang="en-IN" smtClean="0"/>
              <a:t>24-08-2026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632" y="457200"/>
            <a:ext cx="3931508"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2227" y="987425"/>
            <a:ext cx="6171056"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632" y="2057400"/>
            <a:ext cx="393150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ABB12CB-9A0B-4B3E-A07E-FC2E410EB1AD}" type="datetimeFigureOut">
              <a:rPr lang="en-IN" smtClean="0"/>
              <a:t>24-08-2026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632" y="457200"/>
            <a:ext cx="3931508"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2227" y="987425"/>
            <a:ext cx="617105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632" y="2057400"/>
            <a:ext cx="393150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ABB12CB-9A0B-4B3E-A07E-FC2E410EB1AD}" type="datetimeFigureOut">
              <a:rPr lang="en-IN" smtClean="0"/>
              <a:t>24-08-2026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ABB12CB-9A0B-4B3E-A07E-FC2E410EB1AD}"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3283" y="365125"/>
            <a:ext cx="2628413"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045" y="365125"/>
            <a:ext cx="773286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ABB12CB-9A0B-4B3E-A07E-FC2E410EB1AD}"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7E4BDE-76D0-467F-921E-1E84543F0B2D}"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045" y="365125"/>
            <a:ext cx="10513651"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045" y="1825625"/>
            <a:ext cx="10513651"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045" y="6356350"/>
            <a:ext cx="2742692"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BB12CB-9A0B-4B3E-A07E-FC2E410EB1AD}" type="datetimeFigureOut">
              <a:rPr lang="en-IN" smtClean="0"/>
              <a:t>24-08-2026</a:t>
            </a:fld>
            <a:endParaRPr lang="en-IN"/>
          </a:p>
        </p:txBody>
      </p:sp>
      <p:sp>
        <p:nvSpPr>
          <p:cNvPr id="5" name="Footer Placeholder 4"/>
          <p:cNvSpPr>
            <a:spLocks noGrp="1"/>
          </p:cNvSpPr>
          <p:nvPr>
            <p:ph type="ftr" sz="quarter" idx="3"/>
          </p:nvPr>
        </p:nvSpPr>
        <p:spPr>
          <a:xfrm>
            <a:off x="4037851" y="6356350"/>
            <a:ext cx="4114037"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09004" y="6356350"/>
            <a:ext cx="274269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7E4BDE-76D0-467F-921E-1E84543F0B2D}" type="slidenum">
              <a:rPr lang="en-IN" smtClean="0"/>
              <a:t>‹#›</a:t>
            </a:fld>
            <a:endParaRPr lang="en-IN"/>
          </a:p>
        </p:txBody>
      </p:sp>
      <p:pic>
        <p:nvPicPr>
          <p:cNvPr id="8" name="Picture 7"/>
          <p:cNvPicPr>
            <a:picLocks noChangeAspect="1"/>
          </p:cNvPicPr>
          <p:nvPr userDrawn="1"/>
        </p:nvPicPr>
        <p:blipFill>
          <a:blip r:embed="rId13">
            <a:extLst>
              <a:ext uri="{BEBA8EAE-BF5A-486C-A8C5-ECC9F3942E4B}">
                <a14:imgProps xmlns:a14="http://schemas.microsoft.com/office/drawing/2010/main">
                  <a14:imgLayer r:embed="rId14">
                    <a14:imgEffect>
                      <a14:brightnessContrast contrast="-40000"/>
                    </a14:imgEffect>
                    <a14:imgEffect>
                      <a14:saturation sat="400000"/>
                    </a14:imgEffect>
                    <a14:imgEffect>
                      <a14:sharpenSoften amount="25000"/>
                    </a14:imgEffect>
                  </a14:imgLayer>
                </a14:imgProps>
              </a:ext>
            </a:extLst>
          </a:blip>
          <a:stretch>
            <a:fillRect/>
          </a:stretch>
        </p:blipFill>
        <p:spPr>
          <a:xfrm>
            <a:off x="267920" y="223568"/>
            <a:ext cx="11653900" cy="101346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045" y="365125"/>
            <a:ext cx="10513651"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045" y="1825625"/>
            <a:ext cx="10513651"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045" y="6356350"/>
            <a:ext cx="2742692"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BB12CB-9A0B-4B3E-A07E-FC2E410EB1AD}" type="datetimeFigureOut">
              <a:rPr lang="en-IN" smtClean="0"/>
              <a:t>24-08-2026</a:t>
            </a:fld>
            <a:endParaRPr lang="en-IN"/>
          </a:p>
        </p:txBody>
      </p:sp>
      <p:sp>
        <p:nvSpPr>
          <p:cNvPr id="5" name="Footer Placeholder 4"/>
          <p:cNvSpPr>
            <a:spLocks noGrp="1"/>
          </p:cNvSpPr>
          <p:nvPr>
            <p:ph type="ftr" sz="quarter" idx="3"/>
          </p:nvPr>
        </p:nvSpPr>
        <p:spPr>
          <a:xfrm>
            <a:off x="4037851" y="6356350"/>
            <a:ext cx="4114037"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09004" y="6356350"/>
            <a:ext cx="274269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7E4BDE-76D0-467F-921E-1E84543F0B2D}" type="slidenum">
              <a:rPr lang="en-IN" smtClean="0"/>
              <a:t>‹#›</a:t>
            </a:fld>
            <a:endParaRPr lang="en-IN"/>
          </a:p>
        </p:txBody>
      </p:sp>
      <p:pic>
        <p:nvPicPr>
          <p:cNvPr id="8" name="Picture 7"/>
          <p:cNvPicPr>
            <a:picLocks noChangeAspect="1"/>
          </p:cNvPicPr>
          <p:nvPr userDrawn="1"/>
        </p:nvPicPr>
        <p:blipFill>
          <a:blip r:embed="rId13">
            <a:extLst>
              <a:ext uri="{BEBA8EAE-BF5A-486C-A8C5-ECC9F3942E4B}">
                <a14:imgProps xmlns:a14="http://schemas.microsoft.com/office/drawing/2010/main">
                  <a14:imgLayer r:embed="rId14">
                    <a14:imgEffect>
                      <a14:brightnessContrast contrast="-40000"/>
                    </a14:imgEffect>
                    <a14:imgEffect>
                      <a14:saturation sat="400000"/>
                    </a14:imgEffect>
                    <a14:imgEffect>
                      <a14:sharpenSoften amount="25000"/>
                    </a14:imgEffect>
                  </a14:imgLayer>
                </a14:imgProps>
              </a:ext>
            </a:extLst>
          </a:blip>
          <a:stretch>
            <a:fillRect/>
          </a:stretch>
        </p:blipFill>
        <p:spPr>
          <a:xfrm>
            <a:off x="267920" y="223568"/>
            <a:ext cx="11653900" cy="1013460"/>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0.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8.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7156545" y="4541332"/>
            <a:ext cx="4393172" cy="2668905"/>
          </a:xfrm>
          <a:prstGeom prst="rect">
            <a:avLst/>
          </a:prstGeom>
          <a:noFill/>
        </p:spPr>
        <p:txBody>
          <a:bodyPr wrap="square">
            <a:spAutoFit/>
          </a:bodyPr>
          <a:lstStyle/>
          <a:p>
            <a:pPr lvl="1" indent="0" eaLnBrk="1" hangingPunct="1">
              <a:spcBef>
                <a:spcPts val="550"/>
              </a:spcBef>
              <a:buClr>
                <a:srgbClr val="4F81BD"/>
              </a:buClr>
              <a:buSzPct val="70000"/>
            </a:pPr>
            <a:r>
              <a:rPr lang="en-US" sz="2000" i="1" dirty="0">
                <a:solidFill>
                  <a:schemeClr val="accent1">
                    <a:lumMod val="50000"/>
                  </a:schemeClr>
                </a:solidFill>
                <a:latin typeface="Cambria" panose="02040503050406030204" pitchFamily="18" charset="0"/>
                <a:ea typeface="Cambria" panose="02040503050406030204" pitchFamily="18" charset="0"/>
                <a:cs typeface="Times New Roman" panose="02020603050405020304" pitchFamily="18" charset="0"/>
              </a:rPr>
              <a:t>Presented by, </a:t>
            </a:r>
            <a:endParaRPr lang="en-US" sz="2000" b="1" i="1" dirty="0">
              <a:solidFill>
                <a:srgbClr val="C00000"/>
              </a:solidFill>
              <a:latin typeface="Cambria" panose="02040503050406030204" pitchFamily="18" charset="0"/>
              <a:ea typeface="Cambria" panose="02040503050406030204" pitchFamily="18" charset="0"/>
              <a:cs typeface="Times New Roman" panose="02020603050405020304" pitchFamily="18" charset="0"/>
            </a:endParaRPr>
          </a:p>
          <a:p>
            <a:pPr lvl="1" indent="0" eaLnBrk="1" hangingPunct="1">
              <a:spcBef>
                <a:spcPts val="550"/>
              </a:spcBef>
              <a:buClr>
                <a:srgbClr val="4F81BD"/>
              </a:buClr>
              <a:buSzPct val="70000"/>
            </a:pPr>
            <a:r>
              <a:rPr lang="en-US" sz="2000" b="1" dirty="0">
                <a:solidFill>
                  <a:schemeClr val="accent1">
                    <a:lumMod val="50000"/>
                  </a:schemeClr>
                </a:solidFill>
                <a:latin typeface="Cambria" panose="02040503050406030204" pitchFamily="18" charset="0"/>
                <a:ea typeface="Cambria" panose="02040503050406030204" pitchFamily="18" charset="0"/>
                <a:cs typeface="Times New Roman" panose="02020603050405020304" pitchFamily="18" charset="0"/>
              </a:rPr>
              <a:t>192465030</a:t>
            </a:r>
            <a:r>
              <a:rPr lang="en-IN" altLang="en-US" sz="2000" b="1" dirty="0">
                <a:solidFill>
                  <a:schemeClr val="accent1">
                    <a:lumMod val="50000"/>
                  </a:schemeClr>
                </a:solidFill>
                <a:latin typeface="Cambria" panose="02040503050406030204" pitchFamily="18" charset="0"/>
                <a:ea typeface="Cambria" panose="02040503050406030204" pitchFamily="18" charset="0"/>
                <a:cs typeface="Times New Roman" panose="02020603050405020304" pitchFamily="18" charset="0"/>
              </a:rPr>
              <a:t> - </a:t>
            </a:r>
            <a:r>
              <a:rPr lang="en-US" sz="2000" b="1" dirty="0">
                <a:solidFill>
                  <a:schemeClr val="accent1">
                    <a:lumMod val="50000"/>
                  </a:schemeClr>
                </a:solidFill>
                <a:latin typeface="Cambria" panose="02040503050406030204" pitchFamily="18" charset="0"/>
                <a:ea typeface="Cambria" panose="02040503050406030204" pitchFamily="18" charset="0"/>
                <a:cs typeface="Times New Roman" panose="02020603050405020304" pitchFamily="18" charset="0"/>
              </a:rPr>
              <a:t>Y.Harsha vardhan</a:t>
            </a:r>
          </a:p>
          <a:p>
            <a:pPr lvl="1">
              <a:spcBef>
                <a:spcPts val="550"/>
              </a:spcBef>
              <a:buClr>
                <a:srgbClr val="4F81BD"/>
              </a:buClr>
              <a:buSzPct val="70000"/>
            </a:pPr>
            <a:r>
              <a:rPr lang="en-US" sz="2000" b="1" dirty="0">
                <a:solidFill>
                  <a:schemeClr val="accent1">
                    <a:lumMod val="50000"/>
                  </a:schemeClr>
                </a:solidFill>
                <a:latin typeface="Cambria" panose="02040503050406030204" pitchFamily="18" charset="0"/>
                <a:ea typeface="Cambria" panose="02040503050406030204" pitchFamily="18" charset="0"/>
                <a:cs typeface="Times New Roman" panose="02020603050405020304" pitchFamily="18" charset="0"/>
              </a:rPr>
              <a:t>192465064 </a:t>
            </a:r>
            <a:r>
              <a:rPr lang="en-IN" altLang="en-US" sz="2000" b="1" dirty="0">
                <a:solidFill>
                  <a:schemeClr val="accent1">
                    <a:lumMod val="50000"/>
                  </a:schemeClr>
                </a:solidFill>
                <a:latin typeface="Cambria" panose="02040503050406030204" pitchFamily="18" charset="0"/>
                <a:ea typeface="Cambria" panose="02040503050406030204" pitchFamily="18" charset="0"/>
                <a:cs typeface="Times New Roman" panose="02020603050405020304" pitchFamily="18" charset="0"/>
              </a:rPr>
              <a:t>-</a:t>
            </a:r>
            <a:r>
              <a:rPr lang="en-US" sz="2000" b="1" dirty="0">
                <a:solidFill>
                  <a:schemeClr val="accent1">
                    <a:lumMod val="50000"/>
                  </a:schemeClr>
                </a:solidFill>
                <a:latin typeface="Cambria" panose="02040503050406030204" pitchFamily="18" charset="0"/>
                <a:ea typeface="Cambria" panose="02040503050406030204" pitchFamily="18" charset="0"/>
                <a:cs typeface="Times New Roman" panose="02020603050405020304" pitchFamily="18" charset="0"/>
              </a:rPr>
              <a:t> K.Padma prabhas</a:t>
            </a:r>
          </a:p>
          <a:p>
            <a:pPr lvl="1">
              <a:spcBef>
                <a:spcPts val="550"/>
              </a:spcBef>
              <a:buClr>
                <a:srgbClr val="4F81BD"/>
              </a:buClr>
              <a:buSzPct val="70000"/>
            </a:pPr>
            <a:r>
              <a:rPr lang="en-IN" altLang="en-US" sz="2000" b="1" dirty="0">
                <a:solidFill>
                  <a:schemeClr val="accent1">
                    <a:lumMod val="50000"/>
                  </a:schemeClr>
                </a:solidFill>
                <a:latin typeface="Cambria" panose="02040503050406030204" pitchFamily="18" charset="0"/>
                <a:ea typeface="Cambria" panose="02040503050406030204" pitchFamily="18" charset="0"/>
                <a:cs typeface="Times New Roman" panose="02020603050405020304" pitchFamily="18" charset="0"/>
              </a:rPr>
              <a:t>192465066 - P.Somashankar</a:t>
            </a:r>
          </a:p>
          <a:p>
            <a:pPr lvl="1">
              <a:spcBef>
                <a:spcPts val="550"/>
              </a:spcBef>
              <a:buClr>
                <a:srgbClr val="4F81BD"/>
              </a:buClr>
              <a:buSzPct val="70000"/>
            </a:pPr>
            <a:r>
              <a:rPr lang="en-IN" altLang="en-US" sz="2000" b="1" dirty="0">
                <a:solidFill>
                  <a:schemeClr val="accent1">
                    <a:lumMod val="50000"/>
                  </a:schemeClr>
                </a:solidFill>
                <a:latin typeface="Cambria" panose="02040503050406030204" pitchFamily="18" charset="0"/>
                <a:ea typeface="Cambria" panose="02040503050406030204" pitchFamily="18" charset="0"/>
                <a:cs typeface="Times New Roman" panose="02020603050405020304" pitchFamily="18" charset="0"/>
              </a:rPr>
              <a:t>192521117 - R.Mohanram</a:t>
            </a:r>
            <a:endParaRPr lang="en-US" sz="2000" b="1" dirty="0">
              <a:solidFill>
                <a:schemeClr val="accent1">
                  <a:lumMod val="50000"/>
                </a:schemeClr>
              </a:solidFill>
              <a:latin typeface="Cambria" panose="02040503050406030204" pitchFamily="18" charset="0"/>
              <a:ea typeface="Cambria" panose="02040503050406030204" pitchFamily="18" charset="0"/>
              <a:cs typeface="Times New Roman" panose="02020603050405020304" pitchFamily="18" charset="0"/>
            </a:endParaRPr>
          </a:p>
          <a:p>
            <a:pPr lvl="1">
              <a:spcBef>
                <a:spcPts val="550"/>
              </a:spcBef>
              <a:buClr>
                <a:srgbClr val="4F81BD"/>
              </a:buClr>
              <a:buSzPct val="70000"/>
            </a:pPr>
            <a:endParaRPr lang="en-US" sz="2000" b="1" dirty="0">
              <a:solidFill>
                <a:schemeClr val="accent1">
                  <a:lumMod val="50000"/>
                </a:schemeClr>
              </a:solidFill>
              <a:latin typeface="Cambria" panose="02040503050406030204" pitchFamily="18" charset="0"/>
              <a:ea typeface="Cambria" panose="02040503050406030204" pitchFamily="18" charset="0"/>
              <a:cs typeface="Times New Roman" panose="02020603050405020304" pitchFamily="18" charset="0"/>
            </a:endParaRPr>
          </a:p>
          <a:p>
            <a:pPr lvl="1">
              <a:spcBef>
                <a:spcPts val="550"/>
              </a:spcBef>
              <a:buClr>
                <a:srgbClr val="4F81BD"/>
              </a:buClr>
              <a:buSzPct val="70000"/>
            </a:pPr>
            <a:endParaRPr lang="en-US" sz="2000" b="1" dirty="0">
              <a:solidFill>
                <a:schemeClr val="accent1">
                  <a:lumMod val="50000"/>
                </a:schemeClr>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13" name="TextBox 12"/>
          <p:cNvSpPr txBox="1"/>
          <p:nvPr/>
        </p:nvSpPr>
        <p:spPr>
          <a:xfrm>
            <a:off x="217741" y="1495247"/>
            <a:ext cx="11754258" cy="1153160"/>
          </a:xfrm>
          <a:prstGeom prst="rect">
            <a:avLst/>
          </a:prstGeom>
          <a:noFill/>
        </p:spPr>
        <p:txBody>
          <a:bodyPr wrap="square">
            <a:spAutoFit/>
          </a:bodyPr>
          <a:lstStyle/>
          <a:p>
            <a:pPr marL="36195" marR="0" algn="ctr">
              <a:spcAft>
                <a:spcPts val="600"/>
              </a:spcAft>
              <a:buNone/>
            </a:pPr>
            <a:r>
              <a:rPr lang="en-US" sz="3200" dirty="0">
                <a:solidFill>
                  <a:schemeClr val="accent6">
                    <a:lumMod val="50000"/>
                  </a:schemeClr>
                </a:solidFill>
                <a:latin typeface="Cambria" panose="02040503050406030204" pitchFamily="18" charset="0"/>
                <a:ea typeface="Cambria" panose="02040503050406030204" pitchFamily="18" charset="0"/>
              </a:rPr>
              <a:t>GatekeeperX: Queueing Simulation for Intelligent DevSecops</a:t>
            </a:r>
            <a:r>
              <a:rPr lang="en-US" sz="3200" dirty="0">
                <a:solidFill>
                  <a:schemeClr val="accent6">
                    <a:lumMod val="50000"/>
                  </a:schemeClr>
                </a:solidFill>
                <a:effectLst/>
                <a:latin typeface="Cambria" panose="02040503050406030204" pitchFamily="18" charset="0"/>
                <a:ea typeface="Cambria" panose="02040503050406030204" pitchFamily="18" charset="0"/>
              </a:rPr>
              <a:t> </a:t>
            </a:r>
          </a:p>
          <a:p>
            <a:pPr marL="36195" marR="0" algn="ctr">
              <a:spcAft>
                <a:spcPts val="600"/>
              </a:spcAft>
              <a:buNone/>
            </a:pPr>
            <a:r>
              <a:rPr lang="en-US" sz="3200" dirty="0">
                <a:solidFill>
                  <a:schemeClr val="accent6">
                    <a:lumMod val="50000"/>
                  </a:schemeClr>
                </a:solidFill>
                <a:latin typeface="Cambria" panose="02040503050406030204" pitchFamily="18" charset="0"/>
                <a:ea typeface="Cambria" panose="02040503050406030204" pitchFamily="18" charset="0"/>
              </a:rPr>
              <a:t>Security Gates</a:t>
            </a:r>
            <a:r>
              <a:rPr lang="en-US" sz="3200" dirty="0">
                <a:solidFill>
                  <a:schemeClr val="accent6">
                    <a:lumMod val="50000"/>
                  </a:schemeClr>
                </a:solidFill>
                <a:effectLst/>
                <a:latin typeface="Cambria" panose="02040503050406030204" pitchFamily="18" charset="0"/>
                <a:ea typeface="Cambria" panose="02040503050406030204" pitchFamily="18" charset="0"/>
              </a:rPr>
              <a:t> </a:t>
            </a:r>
            <a:endParaRPr lang="en-IN" sz="3200" dirty="0">
              <a:solidFill>
                <a:schemeClr val="accent6">
                  <a:lumMod val="50000"/>
                </a:schemeClr>
              </a:solidFill>
              <a:effectLst/>
              <a:latin typeface="Cambria" panose="02040503050406030204" pitchFamily="18" charset="0"/>
              <a:ea typeface="Cambria" panose="02040503050406030204" pitchFamily="18" charset="0"/>
            </a:endParaRPr>
          </a:p>
        </p:txBody>
      </p:sp>
      <p:sp>
        <p:nvSpPr>
          <p:cNvPr id="3" name="TextBox 2"/>
          <p:cNvSpPr txBox="1"/>
          <p:nvPr/>
        </p:nvSpPr>
        <p:spPr>
          <a:xfrm>
            <a:off x="81334" y="4695191"/>
            <a:ext cx="6409698" cy="1911985"/>
          </a:xfrm>
          <a:prstGeom prst="rect">
            <a:avLst/>
          </a:prstGeom>
          <a:noFill/>
        </p:spPr>
        <p:txBody>
          <a:bodyPr wrap="square">
            <a:spAutoFit/>
          </a:bodyPr>
          <a:lstStyle/>
          <a:p>
            <a:pPr lvl="1" indent="0" eaLnBrk="1" hangingPunct="1">
              <a:spcBef>
                <a:spcPts val="550"/>
              </a:spcBef>
              <a:buClr>
                <a:srgbClr val="4F81BD"/>
              </a:buClr>
              <a:buSzPct val="70000"/>
            </a:pPr>
            <a:r>
              <a:rPr lang="en-US" sz="2000" b="1" dirty="0">
                <a:solidFill>
                  <a:schemeClr val="accent2">
                    <a:lumMod val="50000"/>
                  </a:schemeClr>
                </a:solidFill>
                <a:latin typeface="Cambria" panose="02040503050406030204" pitchFamily="18" charset="0"/>
                <a:ea typeface="Cambria" panose="02040503050406030204" pitchFamily="18" charset="0"/>
                <a:cs typeface="Times New Roman" panose="02020603050405020304" pitchFamily="18" charset="0"/>
              </a:rPr>
              <a:t>Guided by,</a:t>
            </a:r>
          </a:p>
          <a:p>
            <a:pPr lvl="1" indent="0" eaLnBrk="1" hangingPunct="1">
              <a:spcBef>
                <a:spcPts val="550"/>
              </a:spcBef>
              <a:buClr>
                <a:srgbClr val="4F81BD"/>
              </a:buClr>
              <a:buSzPct val="70000"/>
            </a:pPr>
            <a:r>
              <a:rPr lang="en-US" sz="2000" b="1" dirty="0">
                <a:solidFill>
                  <a:schemeClr val="accent4">
                    <a:lumMod val="50000"/>
                  </a:schemeClr>
                </a:solidFill>
                <a:latin typeface="Cambria" panose="02040503050406030204" pitchFamily="18" charset="0"/>
                <a:ea typeface="Cambria" panose="02040503050406030204" pitchFamily="18" charset="0"/>
                <a:cs typeface="Times New Roman" panose="02020603050405020304" pitchFamily="18" charset="0"/>
              </a:rPr>
              <a:t>Dr. T. Vincent Gnanaraj</a:t>
            </a:r>
          </a:p>
          <a:p>
            <a:pPr lvl="1" indent="0" eaLnBrk="1" hangingPunct="1">
              <a:spcBef>
                <a:spcPts val="550"/>
              </a:spcBef>
              <a:buClr>
                <a:srgbClr val="4F81BD"/>
              </a:buClr>
              <a:buSzPct val="70000"/>
            </a:pPr>
            <a:r>
              <a:rPr lang="en-US" sz="2000" b="1" i="1" dirty="0">
                <a:solidFill>
                  <a:schemeClr val="accent4">
                    <a:lumMod val="50000"/>
                  </a:schemeClr>
                </a:solidFill>
                <a:latin typeface="Cambria" panose="02040503050406030204" pitchFamily="18" charset="0"/>
                <a:ea typeface="Cambria" panose="02040503050406030204" pitchFamily="18" charset="0"/>
                <a:cs typeface="Times New Roman" panose="02020603050405020304" pitchFamily="18" charset="0"/>
              </a:rPr>
              <a:t>Associate Professor</a:t>
            </a:r>
          </a:p>
          <a:p>
            <a:pPr lvl="1" indent="0" eaLnBrk="1" hangingPunct="1">
              <a:spcBef>
                <a:spcPts val="550"/>
              </a:spcBef>
              <a:buClr>
                <a:srgbClr val="4F81BD"/>
              </a:buClr>
              <a:buSzPct val="70000"/>
            </a:pPr>
            <a:r>
              <a:rPr lang="en-US" sz="2000" b="1" i="1" dirty="0">
                <a:solidFill>
                  <a:schemeClr val="accent4">
                    <a:lumMod val="50000"/>
                  </a:schemeClr>
                </a:solidFill>
                <a:latin typeface="Cambria" panose="02040503050406030204" pitchFamily="18" charset="0"/>
                <a:ea typeface="Cambria" panose="02040503050406030204" pitchFamily="18" charset="0"/>
                <a:cs typeface="Times New Roman" panose="02020603050405020304" pitchFamily="18" charset="0"/>
              </a:rPr>
              <a:t>Department of Quantum Intelligence</a:t>
            </a:r>
          </a:p>
          <a:p>
            <a:pPr lvl="1" indent="0" eaLnBrk="1" hangingPunct="1">
              <a:spcBef>
                <a:spcPts val="550"/>
              </a:spcBef>
              <a:buClr>
                <a:srgbClr val="4F81BD"/>
              </a:buClr>
              <a:buSzPct val="70000"/>
            </a:pPr>
            <a:r>
              <a:rPr lang="en-US" sz="2000" b="1" i="1" dirty="0">
                <a:solidFill>
                  <a:schemeClr val="accent4">
                    <a:lumMod val="50000"/>
                  </a:schemeClr>
                </a:solidFill>
                <a:latin typeface="Cambria" panose="02040503050406030204" pitchFamily="18" charset="0"/>
                <a:ea typeface="Cambria" panose="02040503050406030204" pitchFamily="18" charset="0"/>
                <a:cs typeface="Times New Roman" panose="02020603050405020304" pitchFamily="18" charset="0"/>
              </a:rPr>
              <a:t>SIMATS Engineering</a:t>
            </a:r>
          </a:p>
        </p:txBody>
      </p:sp>
      <p:pic>
        <p:nvPicPr>
          <p:cNvPr id="2" name="Picture 1"/>
          <p:cNvPicPr/>
          <p:nvPr/>
        </p:nvPicPr>
        <p:blipFill>
          <a:blip r:embed="rId2"/>
          <a:stretch>
            <a:fillRect/>
          </a:stretch>
        </p:blipFill>
        <p:spPr>
          <a:xfrm>
            <a:off x="696595" y="2649220"/>
            <a:ext cx="10765155" cy="18872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585015" y="1181568"/>
            <a:ext cx="3540657" cy="583565"/>
          </a:xfrm>
          <a:prstGeom prst="rect">
            <a:avLst/>
          </a:prstGeom>
        </p:spPr>
        <p:txBody>
          <a:bodyPr wrap="square">
            <a:spAutoFit/>
            <a:extLst>
              <a:ext uri="{4A0BC546-FE56-4ADE-93B0-CB8AF2F6F144}">
                <wpsdc:textFrameExt xmlns:wpsdc="http://www.wps.cn/officeDocument/2022/drawingmlCustomData" xmlns="" type="text"/>
              </a:ext>
            </a:extLst>
          </a:bodyPr>
          <a:lstStyle/>
          <a:p>
            <a:pPr algn="l"/>
            <a:r>
              <a:rPr lang="en-IN" altLang="en-US" sz="3200" b="1">
                <a:solidFill>
                  <a:schemeClr val="accent1">
                    <a:lumMod val="75000"/>
                  </a:schemeClr>
                </a:solidFill>
                <a:latin typeface="Cambria" panose="02040503050406030204" pitchFamily="18" charset="0"/>
                <a:ea typeface="Microsoft YaHei" panose="020B0503020204020204" charset="-122"/>
                <a:cs typeface="Cambria" panose="02040503050406030204" pitchFamily="18" charset="0"/>
              </a:rPr>
              <a:t>ABSTRACT</a:t>
            </a:r>
          </a:p>
        </p:txBody>
      </p:sp>
      <p:sp>
        <p:nvSpPr>
          <p:cNvPr id="3" name="Text Box 2"/>
          <p:cNvSpPr txBox="1"/>
          <p:nvPr/>
        </p:nvSpPr>
        <p:spPr>
          <a:xfrm>
            <a:off x="376477" y="1881193"/>
            <a:ext cx="11510786" cy="4117752"/>
          </a:xfrm>
          <a:prstGeom prst="rect">
            <a:avLst/>
          </a:prstGeom>
          <a:noFill/>
        </p:spPr>
        <p:txBody>
          <a:bodyPr wrap="square" rtlCol="0">
            <a:noAutofit/>
          </a:bodyPr>
          <a:lstStyle/>
          <a:p>
            <a:pPr algn="just">
              <a:lnSpc>
                <a:spcPct val="150000"/>
              </a:lnSpc>
            </a:pPr>
            <a:r>
              <a:rPr lang="en-US" altLang="en-US" dirty="0">
                <a:latin typeface="Cambria" panose="02040503050406030204" pitchFamily="18" charset="0"/>
                <a:cs typeface="Cambria" panose="02040503050406030204" pitchFamily="18" charset="0"/>
              </a:rPr>
              <a:t>Modern </a:t>
            </a:r>
            <a:r>
              <a:rPr lang="en-US" altLang="en-US" dirty="0" err="1">
                <a:latin typeface="Cambria" panose="02040503050406030204" pitchFamily="18" charset="0"/>
                <a:cs typeface="Cambria" panose="02040503050406030204" pitchFamily="18" charset="0"/>
              </a:rPr>
              <a:t>DevSecOps</a:t>
            </a:r>
            <a:r>
              <a:rPr lang="en-US" altLang="en-US" dirty="0">
                <a:latin typeface="Cambria" panose="02040503050406030204" pitchFamily="18" charset="0"/>
                <a:cs typeface="Cambria" panose="02040503050406030204" pitchFamily="18" charset="0"/>
              </a:rPr>
              <a:t> pipelines integrate security checks throughout the software development lifecycle, but traditional security gates often introduce delays due to inefficient resource allocation and manual decision-making. Existing approaches primarily focus on automated security scanning while giving limited attention to optimizing the flow of security validation tasks. This creates bottlenecks that reduce deployment speed and overall pipeline efficiency. The proposed system, “</a:t>
            </a:r>
            <a:r>
              <a:rPr lang="en-US" altLang="en-US" dirty="0" err="1">
                <a:latin typeface="Cambria" panose="02040503050406030204" pitchFamily="18" charset="0"/>
                <a:cs typeface="Cambria" panose="02040503050406030204" pitchFamily="18" charset="0"/>
              </a:rPr>
              <a:t>GatekeeperX</a:t>
            </a:r>
            <a:r>
              <a:rPr lang="en-US" altLang="en-US" dirty="0">
                <a:latin typeface="Cambria" panose="02040503050406030204" pitchFamily="18" charset="0"/>
                <a:cs typeface="Cambria" panose="02040503050406030204" pitchFamily="18" charset="0"/>
              </a:rPr>
              <a:t>”, introduces an intelligent queueing simulation model to optimize </a:t>
            </a:r>
            <a:r>
              <a:rPr lang="en-US" altLang="en-US" dirty="0" err="1">
                <a:latin typeface="Cambria" panose="02040503050406030204" pitchFamily="18" charset="0"/>
                <a:cs typeface="Cambria" panose="02040503050406030204" pitchFamily="18" charset="0"/>
              </a:rPr>
              <a:t>DevSecOps</a:t>
            </a:r>
            <a:r>
              <a:rPr lang="en-US" altLang="en-US" dirty="0">
                <a:latin typeface="Cambria" panose="02040503050406030204" pitchFamily="18" charset="0"/>
                <a:cs typeface="Cambria" panose="02040503050406030204" pitchFamily="18" charset="0"/>
              </a:rPr>
              <a:t> security gates by prioritizing and scheduling security tasks based on risk and resource availability. The system simulates different queue management strategies to reduce waiting time, improve throughput, and maintain strong security standards. It also enables better utilization of security tools without compromising software quality. The expected findings demonstrate that intelligent queue management can significantly minimize pipeline delays, enhance security gate efficiency, and support faster, more reliable, and secure continuous software delivery.</a:t>
            </a:r>
          </a:p>
          <a:p>
            <a:pPr algn="just">
              <a:lnSpc>
                <a:spcPct val="150000"/>
              </a:lnSpc>
            </a:pPr>
            <a:endParaRPr lang="en-US" dirty="0">
              <a:latin typeface="Cambria" panose="02040503050406030204" pitchFamily="18" charset="0"/>
              <a:cs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658238" y="1070467"/>
            <a:ext cx="2873263" cy="58356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Introduction</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p:cNvSpPr txBox="1"/>
          <p:nvPr/>
        </p:nvSpPr>
        <p:spPr>
          <a:xfrm>
            <a:off x="284129" y="1756954"/>
            <a:ext cx="11438634" cy="4924425"/>
          </a:xfrm>
          <a:prstGeom prst="rect">
            <a:avLst/>
          </a:prstGeom>
          <a:noFill/>
        </p:spPr>
        <p:txBody>
          <a:bodyPr wrap="square">
            <a:spAutoFit/>
          </a:bodyPr>
          <a:lstStyle/>
          <a:p>
            <a:pPr algn="just"/>
            <a:r>
              <a:rPr lang="en-US" sz="1600" b="1" dirty="0">
                <a:solidFill>
                  <a:schemeClr val="tx1">
                    <a:lumMod val="85000"/>
                    <a:lumOff val="15000"/>
                  </a:schemeClr>
                </a:solidFill>
                <a:latin typeface="Cambria" panose="02040503050406030204" pitchFamily="18" charset="0"/>
                <a:ea typeface="Cambria" panose="02040503050406030204" pitchFamily="18" charset="0"/>
              </a:rPr>
              <a:t>1. Concept Used — </a:t>
            </a:r>
            <a:r>
              <a:rPr lang="en-US" sz="1600" b="1" dirty="0" err="1">
                <a:solidFill>
                  <a:schemeClr val="tx1">
                    <a:lumMod val="85000"/>
                    <a:lumOff val="15000"/>
                  </a:schemeClr>
                </a:solidFill>
                <a:latin typeface="Cambria" panose="02040503050406030204" pitchFamily="18" charset="0"/>
                <a:ea typeface="Cambria" panose="02040503050406030204" pitchFamily="18" charset="0"/>
              </a:rPr>
              <a:t>DevSecOps</a:t>
            </a:r>
            <a:r>
              <a:rPr lang="en-US" sz="1600" b="1" dirty="0">
                <a:solidFill>
                  <a:schemeClr val="tx1">
                    <a:lumMod val="85000"/>
                    <a:lumOff val="15000"/>
                  </a:schemeClr>
                </a:solidFill>
                <a:latin typeface="Cambria" panose="02040503050406030204" pitchFamily="18" charset="0"/>
                <a:ea typeface="Cambria" panose="02040503050406030204" pitchFamily="18" charset="0"/>
              </a:rPr>
              <a:t> &amp; Queueing Theory</a:t>
            </a:r>
          </a:p>
          <a:p>
            <a:pPr marL="285750" indent="-285750" algn="just">
              <a:buFont typeface="Arial" panose="020B0604020202020204" pitchFamily="34" charset="0"/>
              <a:buChar char="•"/>
            </a:pPr>
            <a:endParaRPr lang="en-US" sz="1600" dirty="0">
              <a:solidFill>
                <a:schemeClr val="tx1">
                  <a:lumMod val="85000"/>
                  <a:lumOff val="15000"/>
                </a:schemeClr>
              </a:solidFill>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sz="1600" dirty="0" err="1">
                <a:solidFill>
                  <a:schemeClr val="tx1">
                    <a:lumMod val="85000"/>
                    <a:lumOff val="15000"/>
                  </a:schemeClr>
                </a:solidFill>
                <a:latin typeface="Cambria" panose="02040503050406030204" pitchFamily="18" charset="0"/>
                <a:ea typeface="Cambria" panose="02040503050406030204" pitchFamily="18" charset="0"/>
              </a:rPr>
              <a:t>DevSecOps</a:t>
            </a:r>
            <a:r>
              <a:rPr lang="en-US" sz="1600" dirty="0">
                <a:solidFill>
                  <a:schemeClr val="tx1">
                    <a:lumMod val="85000"/>
                    <a:lumOff val="15000"/>
                  </a:schemeClr>
                </a:solidFill>
                <a:latin typeface="Cambria" panose="02040503050406030204" pitchFamily="18" charset="0"/>
                <a:ea typeface="Cambria" panose="02040503050406030204" pitchFamily="18" charset="0"/>
              </a:rPr>
              <a:t> integrates security into every stage of the software development and CI/CD pipeline.</a:t>
            </a:r>
          </a:p>
          <a:p>
            <a:pPr marL="285750" indent="-285750" algn="just">
              <a:buFont typeface="Arial" panose="020B0604020202020204" pitchFamily="34" charset="0"/>
              <a:buChar char="•"/>
            </a:pPr>
            <a:r>
              <a:rPr lang="en-US" sz="1600" dirty="0" err="1">
                <a:solidFill>
                  <a:schemeClr val="tx1">
                    <a:lumMod val="85000"/>
                    <a:lumOff val="15000"/>
                  </a:schemeClr>
                </a:solidFill>
                <a:latin typeface="Cambria" panose="02040503050406030204" pitchFamily="18" charset="0"/>
                <a:ea typeface="Cambria" panose="02040503050406030204" pitchFamily="18" charset="0"/>
              </a:rPr>
              <a:t>GatekeeperX</a:t>
            </a:r>
            <a:r>
              <a:rPr lang="en-US" sz="1600" dirty="0">
                <a:solidFill>
                  <a:schemeClr val="tx1">
                    <a:lumMod val="85000"/>
                    <a:lumOff val="15000"/>
                  </a:schemeClr>
                </a:solidFill>
                <a:latin typeface="Cambria" panose="02040503050406030204" pitchFamily="18" charset="0"/>
                <a:ea typeface="Cambria" panose="02040503050406030204" pitchFamily="18" charset="0"/>
              </a:rPr>
              <a:t> applies queueing theory and risk-based prioritization to manage security tasks.</a:t>
            </a:r>
          </a:p>
          <a:p>
            <a:pPr marL="285750" indent="-285750" algn="just">
              <a:buFont typeface="Arial" panose="020B0604020202020204" pitchFamily="34" charset="0"/>
              <a:buChar char="•"/>
            </a:pPr>
            <a:endParaRPr lang="en-US" sz="1600" dirty="0">
              <a:solidFill>
                <a:schemeClr val="tx1">
                  <a:lumMod val="85000"/>
                  <a:lumOff val="15000"/>
                </a:schemeClr>
              </a:solidFill>
              <a:latin typeface="Cambria" panose="02040503050406030204" pitchFamily="18" charset="0"/>
              <a:ea typeface="Cambria" panose="02040503050406030204" pitchFamily="18" charset="0"/>
            </a:endParaRPr>
          </a:p>
          <a:p>
            <a:pPr algn="just"/>
            <a:r>
              <a:rPr lang="en-US" sz="1600" b="1" dirty="0">
                <a:solidFill>
                  <a:schemeClr val="tx1">
                    <a:lumMod val="85000"/>
                    <a:lumOff val="15000"/>
                  </a:schemeClr>
                </a:solidFill>
                <a:latin typeface="Cambria" panose="02040503050406030204" pitchFamily="18" charset="0"/>
                <a:ea typeface="Cambria" panose="02040503050406030204" pitchFamily="18" charset="0"/>
              </a:rPr>
              <a:t>2. Methodology</a:t>
            </a:r>
          </a:p>
          <a:p>
            <a:pPr marL="285750" indent="-285750" algn="just">
              <a:buFont typeface="Arial" panose="020B0604020202020204" pitchFamily="34" charset="0"/>
              <a:buChar char="•"/>
            </a:pPr>
            <a:endParaRPr lang="en-US" sz="1600" dirty="0">
              <a:solidFill>
                <a:schemeClr val="tx1">
                  <a:lumMod val="85000"/>
                  <a:lumOff val="15000"/>
                </a:schemeClr>
              </a:solidFill>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sz="1600" dirty="0">
                <a:solidFill>
                  <a:schemeClr val="tx1">
                    <a:lumMod val="85000"/>
                    <a:lumOff val="15000"/>
                  </a:schemeClr>
                </a:solidFill>
                <a:latin typeface="Cambria" panose="02040503050406030204" pitchFamily="18" charset="0"/>
                <a:ea typeface="Cambria" panose="02040503050406030204" pitchFamily="18" charset="0"/>
              </a:rPr>
              <a:t>Security tasks are generated as a workload and assigned risk-based priority scores.</a:t>
            </a:r>
          </a:p>
          <a:p>
            <a:pPr marL="285750" indent="-285750" algn="just">
              <a:buFont typeface="Arial" panose="020B0604020202020204" pitchFamily="34" charset="0"/>
              <a:buChar char="•"/>
            </a:pPr>
            <a:r>
              <a:rPr lang="en-US" sz="1600" dirty="0">
                <a:solidFill>
                  <a:schemeClr val="tx1">
                    <a:lumMod val="85000"/>
                    <a:lumOff val="15000"/>
                  </a:schemeClr>
                </a:solidFill>
                <a:latin typeface="Cambria" panose="02040503050406030204" pitchFamily="18" charset="0"/>
                <a:ea typeface="Cambria" panose="02040503050406030204" pitchFamily="18" charset="0"/>
              </a:rPr>
              <a:t>The queue then processes tasks using dynamic priority and aging to improve fairness.</a:t>
            </a:r>
          </a:p>
          <a:p>
            <a:pPr marL="285750" indent="-285750" algn="just">
              <a:buFont typeface="Arial" panose="020B0604020202020204" pitchFamily="34" charset="0"/>
              <a:buChar char="•"/>
            </a:pPr>
            <a:endParaRPr lang="en-US" sz="1600" dirty="0">
              <a:solidFill>
                <a:schemeClr val="tx1">
                  <a:lumMod val="85000"/>
                  <a:lumOff val="15000"/>
                </a:schemeClr>
              </a:solidFill>
              <a:latin typeface="Cambria" panose="02040503050406030204" pitchFamily="18" charset="0"/>
              <a:ea typeface="Cambria" panose="02040503050406030204" pitchFamily="18" charset="0"/>
            </a:endParaRPr>
          </a:p>
          <a:p>
            <a:pPr algn="just"/>
            <a:r>
              <a:rPr lang="en-US" sz="1600" b="1" dirty="0">
                <a:solidFill>
                  <a:schemeClr val="tx1">
                    <a:lumMod val="85000"/>
                    <a:lumOff val="15000"/>
                  </a:schemeClr>
                </a:solidFill>
                <a:latin typeface="Cambria" panose="02040503050406030204" pitchFamily="18" charset="0"/>
                <a:ea typeface="Cambria" panose="02040503050406030204" pitchFamily="18" charset="0"/>
              </a:rPr>
              <a:t>3. Existing Work</a:t>
            </a:r>
          </a:p>
          <a:p>
            <a:pPr marL="285750" indent="-285750" algn="just">
              <a:buFont typeface="Arial" panose="020B0604020202020204" pitchFamily="34" charset="0"/>
              <a:buChar char="•"/>
            </a:pPr>
            <a:endParaRPr lang="en-US" sz="1600" dirty="0">
              <a:solidFill>
                <a:schemeClr val="tx1">
                  <a:lumMod val="85000"/>
                  <a:lumOff val="15000"/>
                </a:schemeClr>
              </a:solidFill>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sz="1600" dirty="0">
                <a:solidFill>
                  <a:schemeClr val="tx1">
                    <a:lumMod val="85000"/>
                    <a:lumOff val="15000"/>
                  </a:schemeClr>
                </a:solidFill>
                <a:latin typeface="Cambria" panose="02040503050406030204" pitchFamily="18" charset="0"/>
                <a:ea typeface="Cambria" panose="02040503050406030204" pitchFamily="18" charset="0"/>
              </a:rPr>
              <a:t>Traditional approaches such as FCFS and Static Priority Queueing are commonly used for task scheduling.</a:t>
            </a:r>
          </a:p>
          <a:p>
            <a:pPr marL="285750" indent="-285750" algn="just">
              <a:buFont typeface="Arial" panose="020B0604020202020204" pitchFamily="34" charset="0"/>
              <a:buChar char="•"/>
            </a:pPr>
            <a:r>
              <a:rPr lang="en-US" sz="1600" dirty="0">
                <a:solidFill>
                  <a:schemeClr val="tx1">
                    <a:lumMod val="85000"/>
                    <a:lumOff val="15000"/>
                  </a:schemeClr>
                </a:solidFill>
                <a:latin typeface="Cambria" panose="02040503050406030204" pitchFamily="18" charset="0"/>
                <a:ea typeface="Cambria" panose="02040503050406030204" pitchFamily="18" charset="0"/>
              </a:rPr>
              <a:t>However, they may cause long waiting times, inefficient prioritization, or starvation of lower-priority tasks.</a:t>
            </a:r>
          </a:p>
          <a:p>
            <a:pPr marL="285750" indent="-285750" algn="just">
              <a:buFont typeface="Arial" panose="020B0604020202020204" pitchFamily="34" charset="0"/>
              <a:buChar char="•"/>
            </a:pPr>
            <a:endParaRPr lang="en-US" sz="1600" dirty="0">
              <a:solidFill>
                <a:schemeClr val="tx1">
                  <a:lumMod val="85000"/>
                  <a:lumOff val="15000"/>
                </a:schemeClr>
              </a:solidFill>
              <a:latin typeface="Cambria" panose="02040503050406030204" pitchFamily="18" charset="0"/>
              <a:ea typeface="Cambria" panose="02040503050406030204" pitchFamily="18" charset="0"/>
            </a:endParaRPr>
          </a:p>
          <a:p>
            <a:pPr algn="just"/>
            <a:r>
              <a:rPr lang="en-US" sz="1600" b="1" dirty="0">
                <a:solidFill>
                  <a:schemeClr val="tx1">
                    <a:lumMod val="85000"/>
                    <a:lumOff val="15000"/>
                  </a:schemeClr>
                </a:solidFill>
                <a:latin typeface="Cambria" panose="02040503050406030204" pitchFamily="18" charset="0"/>
                <a:ea typeface="Cambria" panose="02040503050406030204" pitchFamily="18" charset="0"/>
              </a:rPr>
              <a:t>4. Proposed Work — </a:t>
            </a:r>
            <a:r>
              <a:rPr lang="en-US" sz="1600" b="1" dirty="0" err="1">
                <a:solidFill>
                  <a:schemeClr val="tx1">
                    <a:lumMod val="85000"/>
                    <a:lumOff val="15000"/>
                  </a:schemeClr>
                </a:solidFill>
                <a:latin typeface="Cambria" panose="02040503050406030204" pitchFamily="18" charset="0"/>
                <a:ea typeface="Cambria" panose="02040503050406030204" pitchFamily="18" charset="0"/>
              </a:rPr>
              <a:t>GatekeeperX</a:t>
            </a:r>
            <a:endParaRPr lang="en-US" sz="1600" b="1" dirty="0">
              <a:solidFill>
                <a:schemeClr val="tx1">
                  <a:lumMod val="85000"/>
                  <a:lumOff val="15000"/>
                </a:schemeClr>
              </a:solidFill>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endParaRPr lang="en-US" sz="1600" dirty="0">
              <a:solidFill>
                <a:schemeClr val="tx1">
                  <a:lumMod val="85000"/>
                  <a:lumOff val="15000"/>
                </a:schemeClr>
              </a:solidFill>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sz="1600" dirty="0" err="1">
                <a:solidFill>
                  <a:schemeClr val="tx1">
                    <a:lumMod val="85000"/>
                    <a:lumOff val="15000"/>
                  </a:schemeClr>
                </a:solidFill>
                <a:latin typeface="Cambria" panose="02040503050406030204" pitchFamily="18" charset="0"/>
                <a:ea typeface="Cambria" panose="02040503050406030204" pitchFamily="18" charset="0"/>
              </a:rPr>
              <a:t>GatekeeperX</a:t>
            </a:r>
            <a:r>
              <a:rPr lang="en-US" sz="1600" dirty="0">
                <a:solidFill>
                  <a:schemeClr val="tx1">
                    <a:lumMod val="85000"/>
                    <a:lumOff val="15000"/>
                  </a:schemeClr>
                </a:solidFill>
                <a:latin typeface="Cambria" panose="02040503050406030204" pitchFamily="18" charset="0"/>
                <a:ea typeface="Cambria" panose="02040503050406030204" pitchFamily="18" charset="0"/>
              </a:rPr>
              <a:t> combines security risk assessment, intelligent queueing, and dynamic aging.</a:t>
            </a:r>
          </a:p>
          <a:p>
            <a:pPr marL="285750" indent="-285750" algn="just">
              <a:buFont typeface="Arial" panose="020B0604020202020204" pitchFamily="34" charset="0"/>
              <a:buChar char="•"/>
            </a:pPr>
            <a:r>
              <a:rPr lang="en-US" sz="1600" dirty="0">
                <a:solidFill>
                  <a:schemeClr val="tx1">
                    <a:lumMod val="85000"/>
                    <a:lumOff val="15000"/>
                  </a:schemeClr>
                </a:solidFill>
                <a:latin typeface="Cambria" panose="02040503050406030204" pitchFamily="18" charset="0"/>
                <a:ea typeface="Cambria" panose="02040503050406030204" pitchFamily="18" charset="0"/>
              </a:rPr>
              <a:t>It is simulated in RStudio and compared with existing approaches using performance metrics.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p:cNvGraphicFramePr>
            <a:graphicFrameLocks noGrp="1"/>
          </p:cNvGraphicFramePr>
          <p:nvPr>
            <p:custDataLst>
              <p:tags r:id="rId1"/>
            </p:custDataLst>
            <p:extLst>
              <p:ext uri="{D42A27DB-BD31-4B8C-83A1-F6EECF244321}">
                <p14:modId xmlns:p14="http://schemas.microsoft.com/office/powerpoint/2010/main" val="1986515824"/>
              </p:ext>
            </p:extLst>
          </p:nvPr>
        </p:nvGraphicFramePr>
        <p:xfrm>
          <a:off x="143480" y="1295163"/>
          <a:ext cx="11907520" cy="5562600"/>
        </p:xfrm>
        <a:graphic>
          <a:graphicData uri="http://schemas.openxmlformats.org/drawingml/2006/table">
            <a:tbl>
              <a:tblPr/>
              <a:tblGrid>
                <a:gridCol w="3841115">
                  <a:extLst>
                    <a:ext uri="{9D8B030D-6E8A-4147-A177-3AD203B41FA5}">
                      <a16:colId xmlns:a16="http://schemas.microsoft.com/office/drawing/2014/main" val="20000"/>
                    </a:ext>
                  </a:extLst>
                </a:gridCol>
                <a:gridCol w="3634740">
                  <a:extLst>
                    <a:ext uri="{9D8B030D-6E8A-4147-A177-3AD203B41FA5}">
                      <a16:colId xmlns:a16="http://schemas.microsoft.com/office/drawing/2014/main" val="20001"/>
                    </a:ext>
                  </a:extLst>
                </a:gridCol>
                <a:gridCol w="4431665">
                  <a:extLst>
                    <a:ext uri="{9D8B030D-6E8A-4147-A177-3AD203B41FA5}">
                      <a16:colId xmlns:a16="http://schemas.microsoft.com/office/drawing/2014/main" val="20002"/>
                    </a:ext>
                  </a:extLst>
                </a:gridCol>
              </a:tblGrid>
              <a:tr h="351155">
                <a:tc>
                  <a:txBody>
                    <a:bodyPr/>
                    <a:lstStyle/>
                    <a:p>
                      <a:pPr algn="ctr" fontAlgn="ctr">
                        <a:buNone/>
                      </a:pPr>
                      <a:r>
                        <a:rPr lang="en-US" sz="1600" b="1" i="0" u="none" strike="noStrike" dirty="0">
                          <a:solidFill>
                            <a:schemeClr val="tx1">
                              <a:lumMod val="85000"/>
                              <a:lumOff val="15000"/>
                            </a:schemeClr>
                          </a:solidFill>
                          <a:effectLst/>
                          <a:latin typeface="Cambria" panose="02040503050406030204" pitchFamily="18" charset="0"/>
                        </a:rPr>
                        <a:t>Author(s), Year, Journal/Proceedings</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dirty="0">
                          <a:solidFill>
                            <a:schemeClr val="tx1">
                              <a:lumMod val="85000"/>
                              <a:lumOff val="15000"/>
                            </a:schemeClr>
                          </a:solidFill>
                          <a:effectLst/>
                          <a:latin typeface="Cambria" panose="02040503050406030204" pitchFamily="18" charset="0"/>
                        </a:rPr>
                        <a:t>Title</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dirty="0">
                          <a:solidFill>
                            <a:schemeClr val="tx1">
                              <a:lumMod val="85000"/>
                              <a:lumOff val="15000"/>
                            </a:schemeClr>
                          </a:solidFill>
                          <a:effectLst/>
                          <a:latin typeface="Cambria" panose="02040503050406030204" pitchFamily="18" charset="0"/>
                        </a:rPr>
                        <a:t>Key Findings</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889635">
                <a:tc>
                  <a:txBody>
                    <a:bodyPr/>
                    <a:lstStyle/>
                    <a:p>
                      <a:pPr algn="ctr" fontAlgn="ctr">
                        <a:buNone/>
                      </a:pPr>
                      <a:r>
                        <a:rPr lang="en-IN" sz="1600" dirty="0">
                          <a:latin typeface="Cambria" panose="02040503050406030204" pitchFamily="18" charset="0"/>
                          <a:ea typeface="Cambria" panose="02040503050406030204" pitchFamily="18" charset="0"/>
                        </a:rPr>
                        <a:t>Zhao, Z. &amp; Mukherjee, D., 2026, Queueing Systems (Springer)</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DevOps Pipeline Bottlenecks Under Synthetic Load Spikes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dirty="0">
                          <a:solidFill>
                            <a:schemeClr val="tx1">
                              <a:lumMod val="85000"/>
                              <a:lumOff val="15000"/>
                            </a:schemeClr>
                          </a:solidFill>
                          <a:effectLst/>
                          <a:latin typeface="Cambria" panose="02040503050406030204" pitchFamily="18" charset="0"/>
                        </a:rPr>
                        <a:t>Introduced the concept of archetypes as universal symbols, explaining how astrology’s planetary symbolism can act as psycholog</a:t>
                      </a:r>
                      <a:r>
                        <a:rPr lang="en-IN" altLang="en-US" sz="1600" b="0" i="0" u="none" strike="noStrike" dirty="0">
                          <a:solidFill>
                            <a:schemeClr val="tx1">
                              <a:lumMod val="85000"/>
                              <a:lumOff val="15000"/>
                            </a:schemeClr>
                          </a:solidFill>
                          <a:effectLst/>
                          <a:latin typeface="Cambria" panose="02040503050406030204" pitchFamily="18" charset="0"/>
                        </a:rPr>
                        <a:t>y trigger</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1184275">
                <a:tc>
                  <a:txBody>
                    <a:bodyPr/>
                    <a:lstStyle/>
                    <a:p>
                      <a:pPr algn="ctr" fontAlgn="ctr">
                        <a:buNone/>
                      </a:pPr>
                      <a:r>
                        <a:rPr lang="en-IN" sz="1600" dirty="0">
                          <a:latin typeface="Cambria" panose="02040503050406030204" pitchFamily="18" charset="0"/>
                          <a:ea typeface="Cambria" panose="02040503050406030204" pitchFamily="18" charset="0"/>
                        </a:rPr>
                        <a:t>Baron, O., Krass, D., Senderovich, A., van der Laan, M. &amp; Xu, Z., 2026, Manufacturing &amp; Service Operations Management</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Queueing Causal Models: Comparative Analytics in Queueing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dirty="0">
                          <a:solidFill>
                            <a:schemeClr val="tx1">
                              <a:lumMod val="85000"/>
                              <a:lumOff val="15000"/>
                            </a:schemeClr>
                          </a:solidFill>
                          <a:effectLst/>
                          <a:latin typeface="Cambria" panose="02040503050406030204" pitchFamily="18" charset="0"/>
                        </a:rPr>
                        <a:t>Reviewed historical overlap between astrology and astronomy, noting that symbolic interpretations and empirical measurements once coexisted to explain cosmic influences.</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1183640">
                <a:tc>
                  <a:txBody>
                    <a:bodyPr/>
                    <a:lstStyle/>
                    <a:p>
                      <a:pPr algn="ctr" fontAlgn="ctr">
                        <a:buNone/>
                      </a:pPr>
                      <a:r>
                        <a:rPr lang="en-IN" sz="1600" dirty="0">
                          <a:latin typeface="Cambria" panose="02040503050406030204" pitchFamily="18" charset="0"/>
                          <a:ea typeface="Cambria" panose="02040503050406030204" pitchFamily="18" charset="0"/>
                        </a:rPr>
                        <a:t>Rajapakse, R. N., Zahedi, M., Babar, M. A. &amp; Shen, H., 2021, Journal of Systems and Software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dirty="0">
                          <a:solidFill>
                            <a:schemeClr val="tx1">
                              <a:lumMod val="85000"/>
                              <a:lumOff val="15000"/>
                            </a:schemeClr>
                          </a:solidFill>
                          <a:effectLst/>
                          <a:latin typeface="Cambria" panose="02040503050406030204" pitchFamily="18" charset="0"/>
                        </a:rPr>
                        <a:t>Integrating ABM and SD for Complex Systems</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dirty="0">
                          <a:solidFill>
                            <a:schemeClr val="tx1">
                              <a:lumMod val="85000"/>
                              <a:lumOff val="15000"/>
                            </a:schemeClr>
                          </a:solidFill>
                          <a:effectLst/>
                          <a:latin typeface="Cambria" panose="02040503050406030204" pitchFamily="18" charset="0"/>
                        </a:rPr>
                        <a:t>Demonstrated that combining ABM’s agent-level modeling with SD’s macro-level dynamics yields richer insights in sociological and psychological simulations.</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889000">
                <a:tc>
                  <a:txBody>
                    <a:bodyPr/>
                    <a:lstStyle/>
                    <a:p>
                      <a:pPr algn="ctr" fontAlgn="ctr">
                        <a:buNone/>
                      </a:pPr>
                      <a:r>
                        <a:rPr lang="en-US" sz="1600" b="0" i="0" u="none" strike="noStrike" dirty="0">
                          <a:solidFill>
                            <a:schemeClr val="tx1">
                              <a:lumMod val="85000"/>
                              <a:lumOff val="15000"/>
                            </a:schemeClr>
                          </a:solidFill>
                          <a:effectLst/>
                          <a:latin typeface="Cambria" panose="02040503050406030204" pitchFamily="18" charset="0"/>
                        </a:rPr>
                        <a:t>Patel, S. &amp; Morgan, J., 2021, </a:t>
                      </a:r>
                      <a:r>
                        <a:rPr lang="en-US" sz="1600" b="0" i="1" u="none" strike="noStrike" dirty="0">
                          <a:solidFill>
                            <a:schemeClr val="tx1">
                              <a:lumMod val="85000"/>
                              <a:lumOff val="15000"/>
                            </a:schemeClr>
                          </a:solidFill>
                          <a:effectLst/>
                          <a:latin typeface="Cambria" panose="02040503050406030204" pitchFamily="18" charset="0"/>
                        </a:rPr>
                        <a:t>Computational Social Science Conference Proceedings</a:t>
                      </a:r>
                      <a:endParaRPr lang="en-US" sz="1600" b="0" i="0" u="none" strike="noStrike" dirty="0">
                        <a:solidFill>
                          <a:schemeClr val="tx1">
                            <a:lumMod val="85000"/>
                            <a:lumOff val="15000"/>
                          </a:schemeClr>
                        </a:solidFill>
                        <a:effectLst/>
                        <a:latin typeface="Cambria" panose="02040503050406030204" pitchFamily="18" charset="0"/>
                      </a:endParaRP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dirty="0">
                          <a:solidFill>
                            <a:schemeClr val="tx1">
                              <a:lumMod val="85000"/>
                              <a:lumOff val="15000"/>
                            </a:schemeClr>
                          </a:solidFill>
                          <a:effectLst/>
                          <a:latin typeface="Cambria" panose="02040503050406030204" pitchFamily="18" charset="0"/>
                        </a:rPr>
                        <a:t>Simulation of Symbolic and Empirical Frameworks</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dirty="0">
                          <a:solidFill>
                            <a:schemeClr val="tx1">
                              <a:lumMod val="85000"/>
                              <a:lumOff val="15000"/>
                            </a:schemeClr>
                          </a:solidFill>
                          <a:effectLst/>
                          <a:latin typeface="Cambria" panose="02040503050406030204" pitchFamily="18" charset="0"/>
                        </a:rPr>
                        <a:t>Used statistical validation (correlation and regression) to link symbolic metrics with scientific observations, achieving strong results.</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1064895">
                <a:tc>
                  <a:txBody>
                    <a:bodyPr/>
                    <a:lstStyle/>
                    <a:p>
                      <a:pPr algn="ctr" fontAlgn="ctr">
                        <a:buNone/>
                      </a:pPr>
                      <a:r>
                        <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rPr>
                        <a:t>Chen, Y., 2020, </a:t>
                      </a:r>
                      <a:r>
                        <a:rPr lang="en-US" sz="1600" b="0" i="1" u="none" strike="noStrike" dirty="0">
                          <a:solidFill>
                            <a:schemeClr val="tx1">
                              <a:lumMod val="85000"/>
                              <a:lumOff val="15000"/>
                            </a:schemeClr>
                          </a:solidFill>
                          <a:effectLst/>
                          <a:latin typeface="Cambria" panose="02040503050406030204" pitchFamily="18" charset="0"/>
                          <a:ea typeface="Cambria" panose="02040503050406030204" pitchFamily="18" charset="0"/>
                        </a:rPr>
                        <a:t>International Journal of Metaphysical Studies</a:t>
                      </a:r>
                      <a:r>
                        <a:rPr lang="en-IN" sz="1600" dirty="0">
                          <a:latin typeface="Cambria" panose="02040503050406030204" pitchFamily="18" charset="0"/>
                          <a:ea typeface="Cambria" panose="02040503050406030204" pitchFamily="18" charset="0"/>
                        </a:rPr>
                        <a:t>Ebert, A., Wu, P., Mengersen, K. &amp; Ruggeri, F., 2020, Journal </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A Survey of Queueing Systems with Strategic Timing of Arrivals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dirty="0">
                          <a:solidFill>
                            <a:schemeClr val="tx1">
                              <a:lumMod val="85000"/>
                              <a:lumOff val="15000"/>
                            </a:schemeClr>
                          </a:solidFill>
                          <a:effectLst/>
                          <a:latin typeface="Cambria" panose="02040503050406030204" pitchFamily="18" charset="0"/>
                        </a:rPr>
                        <a:t>Applied the twisted pair cable metaphor to illustrate how blending symbolic and empirical domains reduces interpretive noise</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12" name="TextBox 11"/>
          <p:cNvSpPr txBox="1"/>
          <p:nvPr/>
        </p:nvSpPr>
        <p:spPr>
          <a:xfrm>
            <a:off x="4426298" y="714"/>
            <a:ext cx="3624460" cy="543447"/>
          </a:xfrm>
          <a:prstGeom prst="rect">
            <a:avLst/>
          </a:prstGeom>
          <a:noFill/>
        </p:spPr>
        <p:txBody>
          <a:bodyPr wrap="square">
            <a:no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Literature survey</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p:cNvGraphicFramePr>
            <a:graphicFrameLocks noGrp="1"/>
          </p:cNvGraphicFramePr>
          <p:nvPr>
            <p:custDataLst>
              <p:tags r:id="rId1"/>
            </p:custDataLst>
            <p:extLst>
              <p:ext uri="{D42A27DB-BD31-4B8C-83A1-F6EECF244321}">
                <p14:modId xmlns:p14="http://schemas.microsoft.com/office/powerpoint/2010/main" val="3926144377"/>
              </p:ext>
            </p:extLst>
          </p:nvPr>
        </p:nvGraphicFramePr>
        <p:xfrm>
          <a:off x="102214" y="1235532"/>
          <a:ext cx="11948795" cy="5027295"/>
        </p:xfrm>
        <a:graphic>
          <a:graphicData uri="http://schemas.openxmlformats.org/drawingml/2006/table">
            <a:tbl>
              <a:tblPr/>
              <a:tblGrid>
                <a:gridCol w="3882390">
                  <a:extLst>
                    <a:ext uri="{9D8B030D-6E8A-4147-A177-3AD203B41FA5}">
                      <a16:colId xmlns:a16="http://schemas.microsoft.com/office/drawing/2014/main" val="20000"/>
                    </a:ext>
                  </a:extLst>
                </a:gridCol>
                <a:gridCol w="3634740">
                  <a:extLst>
                    <a:ext uri="{9D8B030D-6E8A-4147-A177-3AD203B41FA5}">
                      <a16:colId xmlns:a16="http://schemas.microsoft.com/office/drawing/2014/main" val="20001"/>
                    </a:ext>
                  </a:extLst>
                </a:gridCol>
                <a:gridCol w="4431665">
                  <a:extLst>
                    <a:ext uri="{9D8B030D-6E8A-4147-A177-3AD203B41FA5}">
                      <a16:colId xmlns:a16="http://schemas.microsoft.com/office/drawing/2014/main" val="20002"/>
                    </a:ext>
                  </a:extLst>
                </a:gridCol>
              </a:tblGrid>
              <a:tr h="298450">
                <a:tc>
                  <a:txBody>
                    <a:bodyPr/>
                    <a:lstStyle/>
                    <a:p>
                      <a:pPr algn="ctr" fontAlgn="ctr">
                        <a:buNone/>
                      </a:pPr>
                      <a:r>
                        <a:rPr lang="en-US" sz="1600" b="1" i="0" u="none" strike="noStrike" dirty="0">
                          <a:solidFill>
                            <a:schemeClr val="tx1">
                              <a:lumMod val="85000"/>
                              <a:lumOff val="15000"/>
                            </a:schemeClr>
                          </a:solidFill>
                          <a:effectLst/>
                          <a:latin typeface="Cambria" panose="02040503050406030204" pitchFamily="18" charset="0"/>
                          <a:cs typeface="Cambria" panose="02040503050406030204" pitchFamily="18" charset="0"/>
                        </a:rPr>
                        <a:t>Author(s), Year, Journal/Proceedings</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dirty="0">
                          <a:solidFill>
                            <a:schemeClr val="tx1">
                              <a:lumMod val="85000"/>
                              <a:lumOff val="15000"/>
                            </a:schemeClr>
                          </a:solidFill>
                          <a:effectLst/>
                          <a:latin typeface="Cambria" panose="02040503050406030204" pitchFamily="18" charset="0"/>
                          <a:cs typeface="Cambria" panose="02040503050406030204" pitchFamily="18" charset="0"/>
                        </a:rPr>
                        <a:t>Title</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dirty="0">
                          <a:solidFill>
                            <a:schemeClr val="tx1">
                              <a:lumMod val="85000"/>
                              <a:lumOff val="15000"/>
                            </a:schemeClr>
                          </a:solidFill>
                          <a:effectLst/>
                          <a:latin typeface="Cambria" panose="02040503050406030204" pitchFamily="18" charset="0"/>
                          <a:cs typeface="Cambria" panose="02040503050406030204" pitchFamily="18" charset="0"/>
                        </a:rPr>
                        <a:t>Key Findings</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756285">
                <a:tc>
                  <a:txBody>
                    <a:bodyPr/>
                    <a:lstStyle/>
                    <a:p>
                      <a:pPr algn="ctr" fontAlgn="ctr">
                        <a:buNone/>
                      </a:pPr>
                      <a:r>
                        <a:rPr lang="en-US" alt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cs typeface="Cambria" panose="02040503050406030204" pitchFamily="18" charset="0"/>
                        </a:rPr>
                        <a:t>Víctor Mayoral-Vilches, Nuria García-Maestro, McKenna Towers, Endika Gil-Uriarte, 2020, arXiv</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cs typeface="Cambria" panose="02040503050406030204" pitchFamily="18" charset="0"/>
                        </a:rPr>
                        <a:t>DevSecOps in Robotics</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a:r>
                        <a:rPr lang="en-US" altLang="en-US" sz="1600" dirty="0">
                          <a:latin typeface="Cambria" panose="02040503050406030204" pitchFamily="18" charset="0"/>
                          <a:cs typeface="Cambria" panose="02040503050406030204" pitchFamily="18" charset="0"/>
                        </a:rPr>
                        <a:t>• Applied </a:t>
                      </a:r>
                      <a:r>
                        <a:rPr lang="en-US" altLang="en-US" sz="1600" dirty="0" err="1">
                          <a:latin typeface="Cambria" panose="02040503050406030204" pitchFamily="18" charset="0"/>
                          <a:cs typeface="Cambria" panose="02040503050406030204" pitchFamily="18" charset="0"/>
                        </a:rPr>
                        <a:t>DevSecOps</a:t>
                      </a:r>
                      <a:r>
                        <a:rPr lang="en-US" altLang="en-US" sz="1600" dirty="0">
                          <a:latin typeface="Cambria" panose="02040503050406030204" pitchFamily="18" charset="0"/>
                          <a:cs typeface="Cambria" panose="02040503050406030204" pitchFamily="18" charset="0"/>
                        </a:rPr>
                        <a:t> principles to robotic software.</a:t>
                      </a:r>
                    </a:p>
                    <a:p>
                      <a:pPr algn="l"/>
                      <a:r>
                        <a:rPr lang="en-US" altLang="en-US" sz="1600" dirty="0">
                          <a:latin typeface="Cambria" panose="02040503050406030204" pitchFamily="18" charset="0"/>
                          <a:cs typeface="Cambria" panose="02040503050406030204" pitchFamily="18" charset="0"/>
                        </a:rPr>
                        <a:t>• Demonstrated secure CI/CD practices.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1005840">
                <a:tc>
                  <a:txBody>
                    <a:bodyPr/>
                    <a:lstStyle/>
                    <a:p>
                      <a:pPr algn="ctr" fontAlgn="ctr">
                        <a:buNone/>
                      </a:pPr>
                      <a:r>
                        <a:rPr lang="en-US" alt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cs typeface="Cambria" panose="02040503050406030204" pitchFamily="18" charset="0"/>
                        </a:rPr>
                        <a:t>Roshan N. Rajapakse, Mansooreh Zahedi, M. Ali Babar, 2020, IEEE International Conference on Software Architecture Workshops (ICSAW)</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cs typeface="Cambria" panose="02040503050406030204" pitchFamily="18" charset="0"/>
                        </a:rPr>
                        <a:t>Security Practices in DevOps: A Systematic Mapping Study</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en-US" sz="1600" b="0" i="0" u="none" strike="noStrike" dirty="0">
                          <a:solidFill>
                            <a:schemeClr val="tx1">
                              <a:lumMod val="85000"/>
                              <a:lumOff val="15000"/>
                            </a:schemeClr>
                          </a:solidFill>
                          <a:effectLst/>
                          <a:latin typeface="Cambria" panose="02040503050406030204" pitchFamily="18" charset="0"/>
                          <a:cs typeface="Cambria" panose="02040503050406030204" pitchFamily="18" charset="0"/>
                        </a:rPr>
                        <a:t>• Reviewed security practices integrated into DevOps.</a:t>
                      </a:r>
                    </a:p>
                    <a:p>
                      <a:pPr algn="l" fontAlgn="ctr">
                        <a:buNone/>
                      </a:pPr>
                      <a:r>
                        <a:rPr lang="en-US" altLang="en-US" sz="1600" b="0" i="0" u="none" strike="noStrike" dirty="0">
                          <a:solidFill>
                            <a:schemeClr val="tx1">
                              <a:lumMod val="85000"/>
                              <a:lumOff val="15000"/>
                            </a:schemeClr>
                          </a:solidFill>
                          <a:effectLst/>
                          <a:latin typeface="Cambria" panose="02040503050406030204" pitchFamily="18" charset="0"/>
                          <a:cs typeface="Cambria" panose="02040503050406030204" pitchFamily="18" charset="0"/>
                        </a:rPr>
                        <a:t>• Recommended automated vulnerability scanning and policy enforcement.</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1007110">
                <a:tc>
                  <a:txBody>
                    <a:bodyPr/>
                    <a:lstStyle/>
                    <a:p>
                      <a:pPr algn="ctr" fontAlgn="ctr">
                        <a:buNone/>
                      </a:pPr>
                      <a:r>
                        <a:rPr lang="en-IN" sz="1600" dirty="0">
                          <a:latin typeface="Cambria" panose="02040503050406030204" pitchFamily="18" charset="0"/>
                          <a:ea typeface="Cambria" panose="02040503050406030204" pitchFamily="18" charset="0"/>
                          <a:cs typeface="Cambria" panose="02040503050406030204" pitchFamily="18" charset="0"/>
                        </a:rPr>
                        <a:t>Haviv, M. &amp; Ravner, L., 2020, arXiv Survey</a:t>
                      </a:r>
                      <a:endParaRPr lang="en-IN"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cs typeface="Cambria" panose="02040503050406030204" pitchFamily="18" charset="0"/>
                      </a:endParaRP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cs typeface="Cambria" panose="02040503050406030204" pitchFamily="18" charset="0"/>
                        </a:rPr>
                        <a:t>GatekeeperX: Queueing Simulation for Intelligent DevSecOps Security Gates</a:t>
                      </a:r>
                      <a:endParaRPr lang="en-IN"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cs typeface="Cambria" panose="02040503050406030204" pitchFamily="18" charset="0"/>
                      </a:endParaRP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cs typeface="Cambria" panose="02040503050406030204" pitchFamily="18" charset="0"/>
                        </a:rPr>
                        <a:t>Surveyed queueing models focusing on congestion, waiting-time analysis, scheduling strategies, and service optimization in modern queueing systems</a:t>
                      </a:r>
                      <a:endParaRPr lang="en-IN"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cs typeface="Cambria" panose="02040503050406030204" pitchFamily="18" charset="0"/>
                      </a:endParaRP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979805">
                <a:tc>
                  <a:txBody>
                    <a:bodyPr/>
                    <a:lstStyle/>
                    <a:p>
                      <a:pPr algn="ctr" fontAlgn="ctr">
                        <a:buNone/>
                      </a:pPr>
                      <a:r>
                        <a:rPr lang="en-US" altLang="en-US" sz="1600" b="0" i="0" u="none" strike="noStrike" dirty="0">
                          <a:solidFill>
                            <a:schemeClr val="tx1">
                              <a:lumMod val="85000"/>
                              <a:lumOff val="15000"/>
                            </a:schemeClr>
                          </a:solidFill>
                          <a:effectLst/>
                          <a:latin typeface="Cambria" panose="02040503050406030204" pitchFamily="18" charset="0"/>
                          <a:cs typeface="Cambria" panose="02040503050406030204" pitchFamily="18" charset="0"/>
                        </a:rPr>
                        <a:t>M. Myrbakken, R. Colomo-Palacios, 2017, Information and Software Technology</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en-US" sz="1600" b="0" i="0" u="none" strike="noStrike" dirty="0">
                          <a:solidFill>
                            <a:schemeClr val="tx1">
                              <a:lumMod val="85000"/>
                              <a:lumOff val="15000"/>
                            </a:schemeClr>
                          </a:solidFill>
                          <a:effectLst/>
                          <a:latin typeface="Cambria" panose="02040503050406030204" pitchFamily="18" charset="0"/>
                          <a:cs typeface="Cambria" panose="02040503050406030204" pitchFamily="18" charset="0"/>
                        </a:rPr>
                        <a:t>DevSecOps: A Multivocal Literature Revie</a:t>
                      </a:r>
                      <a:r>
                        <a:rPr lang="en-IN" altLang="en-US" sz="1600" b="0" i="0" u="none" strike="noStrike" dirty="0">
                          <a:solidFill>
                            <a:schemeClr val="tx1">
                              <a:lumMod val="85000"/>
                              <a:lumOff val="15000"/>
                            </a:schemeClr>
                          </a:solidFill>
                          <a:effectLst/>
                          <a:latin typeface="Cambria" panose="02040503050406030204" pitchFamily="18" charset="0"/>
                          <a:cs typeface="Cambria" panose="02040503050406030204" pitchFamily="18" charset="0"/>
                        </a:rPr>
                        <a:t>w</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en-US" sz="1600" b="0" i="0" u="none" strike="noStrike" dirty="0">
                          <a:solidFill>
                            <a:schemeClr val="tx1">
                              <a:lumMod val="85000"/>
                              <a:lumOff val="15000"/>
                            </a:schemeClr>
                          </a:solidFill>
                          <a:effectLst/>
                          <a:latin typeface="Cambria" panose="02040503050406030204" pitchFamily="18" charset="0"/>
                          <a:cs typeface="Cambria" panose="02040503050406030204" pitchFamily="18" charset="0"/>
                        </a:rPr>
                        <a:t>• Summarized industrial and academic DevSecOps practices.</a:t>
                      </a:r>
                    </a:p>
                    <a:p>
                      <a:pPr algn="l" fontAlgn="ctr">
                        <a:buNone/>
                      </a:pPr>
                      <a:r>
                        <a:rPr lang="en-US" altLang="en-US" sz="1600" b="0" i="0" u="none" strike="noStrike" dirty="0">
                          <a:solidFill>
                            <a:schemeClr val="tx1">
                              <a:lumMod val="85000"/>
                              <a:lumOff val="15000"/>
                            </a:schemeClr>
                          </a:solidFill>
                          <a:effectLst/>
                          <a:latin typeface="Cambria" panose="02040503050406030204" pitchFamily="18" charset="0"/>
                          <a:cs typeface="Cambria" panose="02040503050406030204" pitchFamily="18" charset="0"/>
                        </a:rPr>
                        <a:t>• Identified organizational and technical adoption barriers.</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979805">
                <a:tc>
                  <a:txBody>
                    <a:bodyPr/>
                    <a:lstStyle/>
                    <a:p>
                      <a:pPr algn="ctr" fontAlgn="ctr">
                        <a:buNone/>
                      </a:pPr>
                      <a:r>
                        <a:rPr lang="en-US" alt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cs typeface="Cambria" panose="02040503050406030204" pitchFamily="18" charset="0"/>
                        </a:rPr>
                        <a:t>Kim Wuyts, Wouter Joosen, 2016, IEEE Software</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cs typeface="Cambria" panose="02040503050406030204" pitchFamily="18" charset="0"/>
                        </a:rPr>
                        <a:t>Supporting Security in Continuous Integration and Continuous Deployment Pipelines</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en-US" sz="1600" b="0" i="0" u="none" strike="noStrike" dirty="0">
                          <a:solidFill>
                            <a:schemeClr val="tx1">
                              <a:lumMod val="85000"/>
                              <a:lumOff val="15000"/>
                            </a:schemeClr>
                          </a:solidFill>
                          <a:effectLst/>
                          <a:latin typeface="Cambria" panose="02040503050406030204" pitchFamily="18" charset="0"/>
                          <a:cs typeface="Cambria" panose="02040503050406030204" pitchFamily="18" charset="0"/>
                        </a:rPr>
                        <a:t>• Introduced security checkpoints in CI/CD pipelines.</a:t>
                      </a:r>
                    </a:p>
                    <a:p>
                      <a:pPr algn="l" fontAlgn="ctr">
                        <a:buNone/>
                      </a:pPr>
                      <a:r>
                        <a:rPr lang="en-US" altLang="en-US" sz="1600" b="0" i="0" u="none" strike="noStrike" dirty="0">
                          <a:solidFill>
                            <a:schemeClr val="tx1">
                              <a:lumMod val="85000"/>
                              <a:lumOff val="15000"/>
                            </a:schemeClr>
                          </a:solidFill>
                          <a:effectLst/>
                          <a:latin typeface="Cambria" panose="02040503050406030204" pitchFamily="18" charset="0"/>
                          <a:cs typeface="Cambria" panose="02040503050406030204" pitchFamily="18" charset="0"/>
                        </a:rPr>
                        <a:t>• Recommended automated code analysis and compliance validation.</a:t>
                      </a:r>
                    </a:p>
                  </a:txBody>
                  <a:tcPr marL="4399" marR="4399" marT="4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584700" y="1181100"/>
            <a:ext cx="3541395" cy="1076325"/>
          </a:xfrm>
          <a:prstGeom prst="rect">
            <a:avLst/>
          </a:prstGeom>
        </p:spPr>
        <p:txBody>
          <a:bodyPr wrap="square">
            <a:spAutoFit/>
            <a:extLst>
              <a:ext uri="{4A0BC546-FE56-4ADE-93B0-CB8AF2F6F144}">
                <wpsdc:textFrameExt xmlns:wpsdc="http://www.wps.cn/officeDocument/2022/drawingmlCustomData" xmlns="" type="text"/>
              </a:ext>
            </a:extLst>
          </a:bodyPr>
          <a:lstStyle/>
          <a:p>
            <a:pPr algn="l"/>
            <a:r>
              <a:rPr lang="en-IN" altLang="en-US" sz="3200" b="1">
                <a:solidFill>
                  <a:schemeClr val="accent1">
                    <a:lumMod val="75000"/>
                  </a:schemeClr>
                </a:solidFill>
                <a:latin typeface="Cambria" panose="02040503050406030204" pitchFamily="18" charset="0"/>
                <a:ea typeface="Microsoft YaHei" panose="020B0503020204020204" charset="-122"/>
                <a:cs typeface="Cambria" panose="02040503050406030204" pitchFamily="18" charset="0"/>
              </a:rPr>
              <a:t>RESEARCH GAP</a:t>
            </a:r>
          </a:p>
          <a:p>
            <a:pPr algn="l"/>
            <a:endParaRPr lang="en-IN" altLang="en-US" sz="3200" b="1">
              <a:solidFill>
                <a:schemeClr val="accent1">
                  <a:lumMod val="75000"/>
                </a:schemeClr>
              </a:solidFill>
              <a:latin typeface="Cambria" panose="02040503050406030204" pitchFamily="18" charset="0"/>
              <a:ea typeface="Microsoft YaHei" panose="020B0503020204020204" charset="-122"/>
              <a:cs typeface="Cambria" panose="02040503050406030204" pitchFamily="18" charset="0"/>
            </a:endParaRPr>
          </a:p>
        </p:txBody>
      </p:sp>
      <p:sp>
        <p:nvSpPr>
          <p:cNvPr id="3" name="Text Box 2"/>
          <p:cNvSpPr txBox="1"/>
          <p:nvPr/>
        </p:nvSpPr>
        <p:spPr>
          <a:xfrm>
            <a:off x="375285" y="2122805"/>
            <a:ext cx="11513185" cy="4234815"/>
          </a:xfrm>
          <a:prstGeom prst="rect">
            <a:avLst/>
          </a:prstGeom>
          <a:noFill/>
        </p:spPr>
        <p:txBody>
          <a:bodyPr wrap="square" rtlCol="0">
            <a:noAutofit/>
          </a:bodyPr>
          <a:lstStyle/>
          <a:p>
            <a:pPr marL="285750" indent="-285750" algn="just">
              <a:lnSpc>
                <a:spcPct val="150000"/>
              </a:lnSpc>
              <a:buFont typeface="Arial" panose="020B0604020202020204" pitchFamily="34" charset="0"/>
              <a:buChar char="•"/>
            </a:pPr>
            <a:r>
              <a:rPr lang="en-US" altLang="en-US" dirty="0">
                <a:latin typeface="Cambria" panose="02040503050406030204" pitchFamily="18" charset="0"/>
                <a:cs typeface="Cambria" panose="02040503050406030204" pitchFamily="18" charset="0"/>
              </a:rPr>
              <a:t>Lack of Intelligent Queue Management: Existing </a:t>
            </a:r>
            <a:r>
              <a:rPr lang="en-US" altLang="en-US" dirty="0" err="1">
                <a:latin typeface="Cambria" panose="02040503050406030204" pitchFamily="18" charset="0"/>
                <a:cs typeface="Cambria" panose="02040503050406030204" pitchFamily="18" charset="0"/>
              </a:rPr>
              <a:t>DevSecOps</a:t>
            </a:r>
            <a:r>
              <a:rPr lang="en-US" altLang="en-US" dirty="0">
                <a:latin typeface="Cambria" panose="02040503050406030204" pitchFamily="18" charset="0"/>
                <a:cs typeface="Cambria" panose="02040503050406030204" pitchFamily="18" charset="0"/>
              </a:rPr>
              <a:t> security gates perform security checks but do not prioritize or optimize the execution order of security tasks, leading to processing delays.</a:t>
            </a:r>
          </a:p>
          <a:p>
            <a:pPr marL="285750" indent="-285750" algn="just">
              <a:lnSpc>
                <a:spcPct val="150000"/>
              </a:lnSpc>
              <a:buFont typeface="Arial" panose="020B0604020202020204" pitchFamily="34" charset="0"/>
              <a:buChar char="•"/>
            </a:pPr>
            <a:r>
              <a:rPr lang="en-US" altLang="en-US" dirty="0">
                <a:latin typeface="Cambria" panose="02040503050406030204" pitchFamily="18" charset="0"/>
                <a:cs typeface="Cambria" panose="02040503050406030204" pitchFamily="18" charset="0"/>
              </a:rPr>
              <a:t>Pipeline Bottlenecks: Current security validation processes often create bottlenecks in CI/CD pipelines, increasing deployment time and reducing development efficiency.</a:t>
            </a:r>
          </a:p>
          <a:p>
            <a:pPr marL="285750" indent="-285750" algn="just">
              <a:lnSpc>
                <a:spcPct val="150000"/>
              </a:lnSpc>
              <a:buFont typeface="Arial" panose="020B0604020202020204" pitchFamily="34" charset="0"/>
              <a:buChar char="•"/>
            </a:pPr>
            <a:r>
              <a:rPr lang="en-US" altLang="en-US" dirty="0">
                <a:latin typeface="Cambria" panose="02040503050406030204" pitchFamily="18" charset="0"/>
                <a:cs typeface="Cambria" panose="02040503050406030204" pitchFamily="18" charset="0"/>
              </a:rPr>
              <a:t>Limited Resource Optimization: Most existing solutions do not efficiently allocate security tools and resources based on risk levels, resulting in underutilization of resources and slower software delivery.</a:t>
            </a:r>
            <a:endParaRPr lang="en-US" dirty="0">
              <a:latin typeface="Cambria" panose="02040503050406030204" pitchFamily="18" charset="0"/>
              <a:cs typeface="Cambria"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889200" y="1560584"/>
            <a:ext cx="4399633" cy="583565"/>
          </a:xfrm>
          <a:prstGeom prst="rect">
            <a:avLst/>
          </a:prstGeom>
        </p:spPr>
        <p:txBody>
          <a:bodyPr wrap="square">
            <a:spAutoFit/>
            <a:extLst>
              <a:ext uri="{4A0BC546-FE56-4ADE-93B0-CB8AF2F6F144}">
                <wpsdc:textFrameExt xmlns:wpsdc="http://www.wps.cn/officeDocument/2022/drawingmlCustomData" xmlns="" type="text"/>
              </a:ext>
            </a:extLst>
          </a:bodyPr>
          <a:lstStyle/>
          <a:p>
            <a:pPr algn="l"/>
            <a:r>
              <a:rPr lang="en-IN" altLang="en-US" sz="3200" b="1">
                <a:solidFill>
                  <a:schemeClr val="accent1">
                    <a:lumMod val="75000"/>
                  </a:schemeClr>
                </a:solidFill>
                <a:latin typeface="Cambria" panose="02040503050406030204" pitchFamily="18" charset="0"/>
                <a:ea typeface="Microsoft YaHei" panose="020B0503020204020204" charset="-122"/>
                <a:cs typeface="Cambria" panose="02040503050406030204" pitchFamily="18" charset="0"/>
              </a:rPr>
              <a:t>PROBLEM STATEMENT</a:t>
            </a:r>
          </a:p>
        </p:txBody>
      </p:sp>
      <p:sp>
        <p:nvSpPr>
          <p:cNvPr id="3" name="Text Box 2"/>
          <p:cNvSpPr txBox="1"/>
          <p:nvPr/>
        </p:nvSpPr>
        <p:spPr>
          <a:xfrm>
            <a:off x="376477" y="2542725"/>
            <a:ext cx="11510786" cy="3814285"/>
          </a:xfrm>
          <a:prstGeom prst="rect">
            <a:avLst/>
          </a:prstGeom>
          <a:noFill/>
        </p:spPr>
        <p:txBody>
          <a:bodyPr wrap="square" rtlCol="0">
            <a:noAutofit/>
          </a:bodyPr>
          <a:lstStyle/>
          <a:p>
            <a:pPr marL="285750" indent="-285750" algn="just">
              <a:lnSpc>
                <a:spcPct val="150000"/>
              </a:lnSpc>
              <a:buFont typeface="Arial" panose="020B0604020202020204" pitchFamily="34" charset="0"/>
              <a:buChar char="•"/>
            </a:pPr>
            <a:r>
              <a:rPr lang="en-US" altLang="en-US" dirty="0">
                <a:latin typeface="Cambria" panose="02040503050406030204" pitchFamily="18" charset="0"/>
                <a:cs typeface="Cambria" panose="02040503050406030204" pitchFamily="18" charset="0"/>
              </a:rPr>
              <a:t>Traditional </a:t>
            </a:r>
            <a:r>
              <a:rPr lang="en-US" altLang="en-US" dirty="0" err="1">
                <a:latin typeface="Cambria" panose="02040503050406030204" pitchFamily="18" charset="0"/>
                <a:cs typeface="Cambria" panose="02040503050406030204" pitchFamily="18" charset="0"/>
              </a:rPr>
              <a:t>DevSecOps</a:t>
            </a:r>
            <a:r>
              <a:rPr lang="en-US" altLang="en-US" dirty="0">
                <a:latin typeface="Cambria" panose="02040503050406030204" pitchFamily="18" charset="0"/>
                <a:cs typeface="Cambria" panose="02040503050406030204" pitchFamily="18" charset="0"/>
              </a:rPr>
              <a:t> security gates execute security checks sequentially or with fixed workflows, causing increased waiting time, pipeline bottlenecks, and delayed software deployment.</a:t>
            </a:r>
          </a:p>
          <a:p>
            <a:pPr marL="285750" indent="-285750" algn="just">
              <a:lnSpc>
                <a:spcPct val="150000"/>
              </a:lnSpc>
              <a:buFont typeface="Arial" panose="020B0604020202020204" pitchFamily="34" charset="0"/>
              <a:buChar char="•"/>
            </a:pPr>
            <a:r>
              <a:rPr lang="en-US" altLang="en-US" dirty="0">
                <a:latin typeface="Cambria" panose="02040503050406030204" pitchFamily="18" charset="0"/>
                <a:cs typeface="Cambria" panose="02040503050406030204" pitchFamily="18" charset="0"/>
              </a:rPr>
              <a:t>There is a need for an intelligent queue management system that prioritizes security tasks based on risk and resource availability to improve pipeline efficiency without compromising security</a:t>
            </a:r>
            <a:endParaRPr lang="en-US" dirty="0">
              <a:latin typeface="Cambria" panose="02040503050406030204" pitchFamily="18" charset="0"/>
              <a:cs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016605" y="1265617"/>
            <a:ext cx="2230529" cy="583565"/>
          </a:xfrm>
          <a:prstGeom prst="rect">
            <a:avLst/>
          </a:prstGeom>
        </p:spPr>
        <p:txBody>
          <a:bodyPr wrap="square">
            <a:spAutoFit/>
          </a:bodyPr>
          <a:lstStyle/>
          <a:p>
            <a:pPr algn="ctr"/>
            <a:r>
              <a:rPr lang="en-IN" altLang="en-US" sz="3200" b="1" dirty="0">
                <a:solidFill>
                  <a:schemeClr val="accent1">
                    <a:lumMod val="75000"/>
                  </a:schemeClr>
                </a:solidFill>
                <a:latin typeface="Cambria" panose="02040503050406030204" pitchFamily="18" charset="0"/>
                <a:ea typeface="Microsoft YaHei" panose="020B0503020204020204" charset="-122"/>
                <a:cs typeface="Cambria" panose="02040503050406030204" pitchFamily="18" charset="0"/>
              </a:rPr>
              <a:t>OBJECTIVE</a:t>
            </a:r>
          </a:p>
        </p:txBody>
      </p:sp>
      <p:sp>
        <p:nvSpPr>
          <p:cNvPr id="3" name="Text Box 2"/>
          <p:cNvSpPr txBox="1"/>
          <p:nvPr/>
        </p:nvSpPr>
        <p:spPr>
          <a:xfrm>
            <a:off x="339019" y="2271969"/>
            <a:ext cx="11510786" cy="3814285"/>
          </a:xfrm>
          <a:prstGeom prst="rect">
            <a:avLst/>
          </a:prstGeom>
          <a:noFill/>
        </p:spPr>
        <p:txBody>
          <a:bodyPr wrap="square" rtlCol="0">
            <a:noAutofit/>
          </a:bodyPr>
          <a:lstStyle/>
          <a:p>
            <a:pPr marL="285750" indent="-285750" algn="just">
              <a:buFont typeface="Arial" panose="020B0604020202020204" pitchFamily="34" charset="0"/>
              <a:buChar char="•"/>
            </a:pPr>
            <a:r>
              <a:rPr lang="en-US" altLang="en-US" sz="2000" dirty="0">
                <a:latin typeface="Cambria" panose="02040503050406030204" pitchFamily="18" charset="0"/>
                <a:cs typeface="Cambria" panose="02040503050406030204" pitchFamily="18" charset="0"/>
              </a:rPr>
              <a:t>Analyze limitations of FCFS and Static Priority approaches in managing </a:t>
            </a:r>
            <a:r>
              <a:rPr lang="en-US" altLang="en-US" sz="2000" dirty="0" err="1">
                <a:latin typeface="Cambria" panose="02040503050406030204" pitchFamily="18" charset="0"/>
                <a:cs typeface="Cambria" panose="02040503050406030204" pitchFamily="18" charset="0"/>
              </a:rPr>
              <a:t>DevSecOps</a:t>
            </a:r>
            <a:r>
              <a:rPr lang="en-US" altLang="en-US" sz="2000" dirty="0">
                <a:latin typeface="Cambria" panose="02040503050406030204" pitchFamily="18" charset="0"/>
                <a:cs typeface="Cambria" panose="02040503050406030204" pitchFamily="18" charset="0"/>
              </a:rPr>
              <a:t> security tasks, particularly waiting time and task starvation.</a:t>
            </a:r>
          </a:p>
          <a:p>
            <a:pPr marL="285750" indent="-285750" algn="just">
              <a:buFont typeface="Arial" panose="020B0604020202020204" pitchFamily="34" charset="0"/>
              <a:buChar char="•"/>
            </a:pPr>
            <a:endParaRPr lang="en-US" altLang="en-US" sz="2000" dirty="0">
              <a:latin typeface="Cambria" panose="02040503050406030204" pitchFamily="18" charset="0"/>
              <a:cs typeface="Cambria" panose="02040503050406030204" pitchFamily="18" charset="0"/>
            </a:endParaRPr>
          </a:p>
          <a:p>
            <a:pPr marL="285750" indent="-285750" algn="just">
              <a:buFont typeface="Arial" panose="020B0604020202020204" pitchFamily="34" charset="0"/>
              <a:buChar char="•"/>
            </a:pPr>
            <a:r>
              <a:rPr lang="en-US" altLang="en-US" sz="2000" dirty="0">
                <a:latin typeface="Cambria" panose="02040503050406030204" pitchFamily="18" charset="0"/>
                <a:cs typeface="Cambria" panose="02040503050406030204" pitchFamily="18" charset="0"/>
              </a:rPr>
              <a:t>Design an intelligent security gate that uses risk-based priority and dynamic aging to efficiently manage security tasks.</a:t>
            </a:r>
          </a:p>
          <a:p>
            <a:pPr marL="285750" indent="-285750" algn="just">
              <a:buFont typeface="Arial" panose="020B0604020202020204" pitchFamily="34" charset="0"/>
              <a:buChar char="•"/>
            </a:pPr>
            <a:endParaRPr lang="en-US" altLang="en-US" sz="2000" dirty="0">
              <a:latin typeface="Cambria" panose="02040503050406030204" pitchFamily="18" charset="0"/>
              <a:cs typeface="Cambria" panose="02040503050406030204" pitchFamily="18" charset="0"/>
            </a:endParaRPr>
          </a:p>
          <a:p>
            <a:pPr marL="285750" indent="-285750" algn="just">
              <a:buFont typeface="Arial" panose="020B0604020202020204" pitchFamily="34" charset="0"/>
              <a:buChar char="•"/>
            </a:pPr>
            <a:r>
              <a:rPr lang="en-US" altLang="en-US" sz="2000" dirty="0">
                <a:latin typeface="Cambria" panose="02040503050406030204" pitchFamily="18" charset="0"/>
                <a:cs typeface="Cambria" panose="02040503050406030204" pitchFamily="18" charset="0"/>
              </a:rPr>
              <a:t>Generate a realistic security-task dataset and simulate the </a:t>
            </a:r>
            <a:r>
              <a:rPr lang="en-US" altLang="en-US" sz="2000" dirty="0" err="1">
                <a:latin typeface="Cambria" panose="02040503050406030204" pitchFamily="18" charset="0"/>
                <a:cs typeface="Cambria" panose="02040503050406030204" pitchFamily="18" charset="0"/>
              </a:rPr>
              <a:t>GatekeeperX</a:t>
            </a:r>
            <a:r>
              <a:rPr lang="en-US" altLang="en-US" sz="2000" dirty="0">
                <a:latin typeface="Cambria" panose="02040503050406030204" pitchFamily="18" charset="0"/>
                <a:cs typeface="Cambria" panose="02040503050406030204" pitchFamily="18" charset="0"/>
              </a:rPr>
              <a:t> queueing model in RStudio under controlled workload conditions.</a:t>
            </a:r>
          </a:p>
          <a:p>
            <a:pPr marL="285750" indent="-285750" algn="just">
              <a:buFont typeface="Arial" panose="020B0604020202020204" pitchFamily="34" charset="0"/>
              <a:buChar char="•"/>
            </a:pPr>
            <a:endParaRPr lang="en-US" altLang="en-US" sz="2000" dirty="0">
              <a:latin typeface="Cambria" panose="02040503050406030204" pitchFamily="18" charset="0"/>
              <a:cs typeface="Cambria" panose="02040503050406030204" pitchFamily="18" charset="0"/>
            </a:endParaRPr>
          </a:p>
          <a:p>
            <a:pPr marL="285750" indent="-285750" algn="just">
              <a:buFont typeface="Arial" panose="020B0604020202020204" pitchFamily="34" charset="0"/>
              <a:buChar char="•"/>
            </a:pPr>
            <a:r>
              <a:rPr lang="en-US" altLang="en-US" sz="2000" dirty="0">
                <a:latin typeface="Cambria" panose="02040503050406030204" pitchFamily="18" charset="0"/>
                <a:cs typeface="Cambria" panose="02040503050406030204" pitchFamily="18" charset="0"/>
              </a:rPr>
              <a:t>Evaluate </a:t>
            </a:r>
            <a:r>
              <a:rPr lang="en-US" altLang="en-US" sz="2000" dirty="0" err="1">
                <a:latin typeface="Cambria" panose="02040503050406030204" pitchFamily="18" charset="0"/>
                <a:cs typeface="Cambria" panose="02040503050406030204" pitchFamily="18" charset="0"/>
              </a:rPr>
              <a:t>GatekeeperX</a:t>
            </a:r>
            <a:r>
              <a:rPr lang="en-US" altLang="en-US" sz="2000" dirty="0">
                <a:latin typeface="Cambria" panose="02040503050406030204" pitchFamily="18" charset="0"/>
                <a:cs typeface="Cambria" panose="02040503050406030204" pitchFamily="18" charset="0"/>
              </a:rPr>
              <a:t> using waiting time, turnaround time, queue length, throughput, and utilization, and compare its performance with existing approaches.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408155" y="1066435"/>
            <a:ext cx="3600000" cy="583565"/>
          </a:xfrm>
          <a:prstGeom prst="rect">
            <a:avLst/>
          </a:prstGeom>
        </p:spPr>
        <p:txBody>
          <a:bodyPr wrap="square">
            <a:spAutoFit/>
          </a:bodyPr>
          <a:lstStyle/>
          <a:p>
            <a:pPr algn="l"/>
            <a:r>
              <a:rPr lang="en-IN" altLang="en-US" sz="3200" b="1" dirty="0">
                <a:solidFill>
                  <a:schemeClr val="accent1">
                    <a:lumMod val="75000"/>
                  </a:schemeClr>
                </a:solidFill>
                <a:latin typeface="Cambria" pitchFamily="18" charset="0"/>
              </a:rPr>
              <a:t>METHODOLOGY</a:t>
            </a:r>
          </a:p>
        </p:txBody>
      </p:sp>
      <p:sp>
        <p:nvSpPr>
          <p:cNvPr id="3" name="LeftSteps"/>
          <p:cNvSpPr txBox="1"/>
          <p:nvPr/>
        </p:nvSpPr>
        <p:spPr>
          <a:xfrm>
            <a:off x="220838" y="1530000"/>
            <a:ext cx="7900000" cy="4400000"/>
          </a:xfrm>
          <a:prstGeom prst="rect">
            <a:avLst/>
          </a:prstGeom>
          <a:noFill/>
        </p:spPr>
        <p:txBody>
          <a:bodyPr wrap="square" rtlCol="0">
            <a:noAutofit/>
          </a:bodyPr>
          <a:lstStyle/>
          <a:p>
            <a:pPr algn="just">
              <a:spcBef>
                <a:spcPts val="400"/>
              </a:spcBef>
            </a:pPr>
            <a:endParaRPr lang="en-US" dirty="0">
              <a:latin typeface="Cambria" pitchFamily="18" charset="0"/>
            </a:endParaRPr>
          </a:p>
          <a:p>
            <a:pPr algn="just">
              <a:spcBef>
                <a:spcPts val="400"/>
              </a:spcBef>
            </a:pPr>
            <a:r>
              <a:rPr lang="en-US" b="1" dirty="0">
                <a:latin typeface="Cambria" pitchFamily="18" charset="0"/>
              </a:rPr>
              <a:t>Input: </a:t>
            </a:r>
          </a:p>
          <a:p>
            <a:pPr algn="just">
              <a:spcBef>
                <a:spcPts val="400"/>
              </a:spcBef>
            </a:pPr>
            <a:r>
              <a:rPr lang="en-US" dirty="0" err="1">
                <a:latin typeface="Cambria" pitchFamily="18" charset="0"/>
              </a:rPr>
              <a:t>DevSecOps</a:t>
            </a:r>
            <a:r>
              <a:rPr lang="en-US" dirty="0">
                <a:latin typeface="Cambria" pitchFamily="18" charset="0"/>
              </a:rPr>
              <a:t> security jobs containing severity, vulnerabilities, risk, business impact and workload parameters.</a:t>
            </a:r>
          </a:p>
          <a:p>
            <a:pPr algn="just">
              <a:spcBef>
                <a:spcPts val="400"/>
              </a:spcBef>
            </a:pPr>
            <a:r>
              <a:rPr lang="en-US" b="1" dirty="0">
                <a:latin typeface="Cambria" pitchFamily="18" charset="0"/>
              </a:rPr>
              <a:t>Risk Modeling: </a:t>
            </a:r>
          </a:p>
          <a:p>
            <a:pPr algn="just">
              <a:spcBef>
                <a:spcPts val="400"/>
              </a:spcBef>
            </a:pPr>
            <a:r>
              <a:rPr lang="en-US" dirty="0">
                <a:latin typeface="Cambria" pitchFamily="18" charset="0"/>
              </a:rPr>
              <a:t>Each job receives a </a:t>
            </a:r>
            <a:r>
              <a:rPr lang="en-US" dirty="0" err="1">
                <a:latin typeface="Cambria" pitchFamily="18" charset="0"/>
              </a:rPr>
              <a:t>GatekeeperX</a:t>
            </a:r>
            <a:r>
              <a:rPr lang="en-US" dirty="0">
                <a:latin typeface="Cambria" pitchFamily="18" charset="0"/>
              </a:rPr>
              <a:t> Priority Score based on multiple security factors.</a:t>
            </a:r>
          </a:p>
          <a:p>
            <a:pPr algn="just">
              <a:spcBef>
                <a:spcPts val="400"/>
              </a:spcBef>
            </a:pPr>
            <a:r>
              <a:rPr lang="en-US" b="1" dirty="0">
                <a:latin typeface="Cambria" pitchFamily="18" charset="0"/>
              </a:rPr>
              <a:t>Queue Processing: </a:t>
            </a:r>
          </a:p>
          <a:p>
            <a:pPr algn="just">
              <a:spcBef>
                <a:spcPts val="400"/>
              </a:spcBef>
            </a:pPr>
            <a:r>
              <a:rPr lang="en-US" dirty="0">
                <a:latin typeface="Cambria" pitchFamily="18" charset="0"/>
              </a:rPr>
              <a:t>Jobs are selected using priority, while dynamic aging increases the priority of waiting jobs.</a:t>
            </a:r>
          </a:p>
          <a:p>
            <a:pPr algn="just">
              <a:spcBef>
                <a:spcPts val="400"/>
              </a:spcBef>
            </a:pPr>
            <a:r>
              <a:rPr lang="en-US" b="1" dirty="0">
                <a:latin typeface="Cambria" pitchFamily="18" charset="0"/>
              </a:rPr>
              <a:t>Evaluation: </a:t>
            </a:r>
          </a:p>
          <a:p>
            <a:pPr algn="just">
              <a:spcBef>
                <a:spcPts val="400"/>
              </a:spcBef>
            </a:pPr>
            <a:r>
              <a:rPr lang="en-US" dirty="0">
                <a:latin typeface="Cambria" pitchFamily="18" charset="0"/>
              </a:rPr>
              <a:t>Performance is measured using waiting time, turnaround time, queue length, throughput and utilization.</a:t>
            </a:r>
          </a:p>
          <a:p>
            <a:pPr algn="just">
              <a:spcBef>
                <a:spcPts val="400"/>
              </a:spcBef>
            </a:pPr>
            <a:r>
              <a:rPr lang="en-US" b="1" dirty="0">
                <a:latin typeface="Cambria" pitchFamily="18" charset="0"/>
              </a:rPr>
              <a:t>Comparison: </a:t>
            </a:r>
          </a:p>
          <a:p>
            <a:pPr algn="just">
              <a:spcBef>
                <a:spcPts val="400"/>
              </a:spcBef>
            </a:pPr>
            <a:r>
              <a:rPr lang="en-US" dirty="0" err="1">
                <a:latin typeface="Cambria" pitchFamily="18" charset="0"/>
              </a:rPr>
              <a:t>GatekeeperX</a:t>
            </a:r>
            <a:r>
              <a:rPr lang="en-US" dirty="0">
                <a:latin typeface="Cambria" pitchFamily="18" charset="0"/>
              </a:rPr>
              <a:t> is evaluated against FCFS and Static Priority using the same workload.</a:t>
            </a:r>
          </a:p>
        </p:txBody>
      </p:sp>
      <p:sp>
        <p:nvSpPr>
          <p:cNvPr id="10" name="GroupBox10"/>
          <p:cNvSpPr/>
          <p:nvPr/>
        </p:nvSpPr>
        <p:spPr>
          <a:xfrm>
            <a:off x="8549999" y="1240000"/>
            <a:ext cx="3417987" cy="1530000"/>
          </a:xfrm>
          <a:prstGeom prst="rect">
            <a:avLst/>
          </a:prstGeom>
          <a:noFill/>
          <a:ln w="12700">
            <a:solidFill>
              <a:schemeClr val="accent1">
                <a:lumMod val="75000"/>
              </a:schemeClr>
            </a:solidFill>
          </a:ln>
        </p:spPr>
        <p:txBody>
          <a:bodyPr wrap="square" lIns="0" tIns="45720" rIns="0" bIns="0" anchor="t"/>
          <a:lstStyle/>
          <a:p>
            <a:pPr algn="ctr"/>
            <a:r>
              <a:rPr lang="en-US" sz="1350" dirty="0">
                <a:latin typeface="Cambria" pitchFamily="18" charset="0"/>
              </a:rPr>
              <a:t>DATA PREPARATION</a:t>
            </a:r>
          </a:p>
        </p:txBody>
      </p:sp>
      <p:sp>
        <p:nvSpPr>
          <p:cNvPr id="11" name="StepBox11"/>
          <p:cNvSpPr/>
          <p:nvPr/>
        </p:nvSpPr>
        <p:spPr>
          <a:xfrm>
            <a:off x="8660000" y="1605000"/>
            <a:ext cx="3080000" cy="400000"/>
          </a:xfrm>
          <a:prstGeom prst="rect">
            <a:avLst/>
          </a:prstGeom>
          <a:solidFill>
            <a:srgbClr val="8EA9DB"/>
          </a:solidFill>
          <a:ln w="6350">
            <a:solidFill>
              <a:schemeClr val="accent1">
                <a:lumMod val="75000"/>
              </a:schemeClr>
            </a:solidFill>
          </a:ln>
        </p:spPr>
        <p:txBody>
          <a:bodyPr wrap="square" lIns="45720" rIns="45720" anchor="ctr">
            <a:normAutofit fontScale="97500"/>
          </a:bodyPr>
          <a:lstStyle/>
          <a:p>
            <a:pPr algn="ctr">
              <a:defRPr sz="1500"/>
            </a:pPr>
            <a:r>
              <a:rPr lang="en-US" sz="1200" dirty="0"/>
              <a:t>Step 1: Generate </a:t>
            </a:r>
            <a:r>
              <a:rPr lang="en-US" sz="1200" dirty="0" err="1"/>
              <a:t>DevSecOps</a:t>
            </a:r>
            <a:r>
              <a:rPr lang="en-US" sz="1200" dirty="0"/>
              <a:t> Security Jobs</a:t>
            </a:r>
          </a:p>
        </p:txBody>
      </p:sp>
      <p:sp>
        <p:nvSpPr>
          <p:cNvPr id="12" name="StepBox12"/>
          <p:cNvSpPr/>
          <p:nvPr/>
        </p:nvSpPr>
        <p:spPr>
          <a:xfrm>
            <a:off x="8679050" y="2248040"/>
            <a:ext cx="3080000" cy="400000"/>
          </a:xfrm>
          <a:prstGeom prst="rect">
            <a:avLst/>
          </a:prstGeom>
          <a:solidFill>
            <a:srgbClr val="8EA9DB"/>
          </a:solidFill>
          <a:ln w="6350">
            <a:solidFill>
              <a:schemeClr val="accent1">
                <a:lumMod val="75000"/>
              </a:schemeClr>
            </a:solidFill>
          </a:ln>
        </p:spPr>
        <p:txBody>
          <a:bodyPr wrap="square" lIns="45720" rIns="45720" anchor="ctr">
            <a:normAutofit fontScale="97500"/>
          </a:bodyPr>
          <a:lstStyle/>
          <a:p>
            <a:pPr algn="ctr">
              <a:defRPr sz="1500"/>
            </a:pPr>
            <a:r>
              <a:rPr lang="en-US" sz="1200" b="1" dirty="0"/>
              <a:t>Step 2: Create Dataset (1000 Records)</a:t>
            </a:r>
          </a:p>
        </p:txBody>
      </p:sp>
      <p:cxnSp>
        <p:nvCxnSpPr>
          <p:cNvPr id="13" name="Connector13"/>
          <p:cNvCxnSpPr>
            <a:cxnSpLocks/>
            <a:endCxn id="12" idx="0"/>
          </p:cNvCxnSpPr>
          <p:nvPr/>
        </p:nvCxnSpPr>
        <p:spPr>
          <a:xfrm>
            <a:off x="10212700" y="2015000"/>
            <a:ext cx="6350" cy="233040"/>
          </a:xfrm>
          <a:prstGeom prst="straightConnector1">
            <a:avLst/>
          </a:prstGeom>
          <a:ln w="15875">
            <a:solidFill>
              <a:srgbClr val="C00000"/>
            </a:solidFill>
            <a:tailEnd type="triangle" w="med" len="med"/>
          </a:ln>
        </p:spPr>
      </p:cxnSp>
      <p:sp>
        <p:nvSpPr>
          <p:cNvPr id="14" name="GroupBox14"/>
          <p:cNvSpPr/>
          <p:nvPr/>
        </p:nvSpPr>
        <p:spPr>
          <a:xfrm>
            <a:off x="8550000" y="3048040"/>
            <a:ext cx="3300000" cy="1541960"/>
          </a:xfrm>
          <a:prstGeom prst="rect">
            <a:avLst/>
          </a:prstGeom>
          <a:noFill/>
          <a:ln w="12700">
            <a:solidFill>
              <a:schemeClr val="accent1">
                <a:lumMod val="75000"/>
              </a:schemeClr>
            </a:solidFill>
          </a:ln>
        </p:spPr>
        <p:txBody>
          <a:bodyPr wrap="square" lIns="0" tIns="45720" rIns="0" bIns="0" anchor="t"/>
          <a:lstStyle/>
          <a:p>
            <a:pPr algn="ctr">
              <a:defRPr sz="1300"/>
            </a:pPr>
            <a:r>
              <a:rPr lang="en-IN" sz="1400" dirty="0"/>
              <a:t>RISK &amp; QUEUE PROCESSING</a:t>
            </a:r>
          </a:p>
        </p:txBody>
      </p:sp>
      <p:sp>
        <p:nvSpPr>
          <p:cNvPr id="15" name="StepBox15"/>
          <p:cNvSpPr/>
          <p:nvPr/>
        </p:nvSpPr>
        <p:spPr>
          <a:xfrm>
            <a:off x="8660000" y="3370330"/>
            <a:ext cx="3080000" cy="400000"/>
          </a:xfrm>
          <a:prstGeom prst="rect">
            <a:avLst/>
          </a:prstGeom>
          <a:solidFill>
            <a:srgbClr val="ED7D31"/>
          </a:solidFill>
          <a:ln w="6350">
            <a:solidFill>
              <a:schemeClr val="accent1">
                <a:lumMod val="75000"/>
              </a:schemeClr>
            </a:solidFill>
          </a:ln>
        </p:spPr>
        <p:txBody>
          <a:bodyPr wrap="square" lIns="45720" rIns="45720" anchor="ctr">
            <a:normAutofit fontScale="97500"/>
          </a:bodyPr>
          <a:lstStyle/>
          <a:p>
            <a:pPr algn="ctr">
              <a:defRPr sz="1500"/>
            </a:pPr>
            <a:r>
              <a:rPr lang="en-US" sz="1200" dirty="0"/>
              <a:t>Step 3: Risk &amp; Priority Modeling</a:t>
            </a:r>
          </a:p>
        </p:txBody>
      </p:sp>
      <p:sp>
        <p:nvSpPr>
          <p:cNvPr id="16" name="StepBox16"/>
          <p:cNvSpPr/>
          <p:nvPr/>
        </p:nvSpPr>
        <p:spPr>
          <a:xfrm>
            <a:off x="8660000" y="4038040"/>
            <a:ext cx="3080000" cy="400000"/>
          </a:xfrm>
          <a:prstGeom prst="rect">
            <a:avLst/>
          </a:prstGeom>
          <a:solidFill>
            <a:srgbClr val="ED7D31"/>
          </a:solidFill>
          <a:ln w="6350">
            <a:solidFill>
              <a:schemeClr val="accent1">
                <a:lumMod val="75000"/>
              </a:schemeClr>
            </a:solidFill>
          </a:ln>
        </p:spPr>
        <p:txBody>
          <a:bodyPr wrap="square" lIns="45720" rIns="45720" anchor="ctr">
            <a:normAutofit fontScale="97500"/>
          </a:bodyPr>
          <a:lstStyle/>
          <a:p>
            <a:pPr algn="ctr">
              <a:defRPr sz="1500"/>
            </a:pPr>
            <a:r>
              <a:rPr lang="en-US" sz="1200" dirty="0"/>
              <a:t>Step 4: Queue Simulation + Dynamic Aging</a:t>
            </a:r>
          </a:p>
        </p:txBody>
      </p:sp>
      <p:cxnSp>
        <p:nvCxnSpPr>
          <p:cNvPr id="18" name="Connector18"/>
          <p:cNvCxnSpPr>
            <a:cxnSpLocks/>
          </p:cNvCxnSpPr>
          <p:nvPr/>
        </p:nvCxnSpPr>
        <p:spPr>
          <a:xfrm>
            <a:off x="10199360" y="3782900"/>
            <a:ext cx="0" cy="230000"/>
          </a:xfrm>
          <a:prstGeom prst="straightConnector1">
            <a:avLst/>
          </a:prstGeom>
          <a:ln w="15875">
            <a:solidFill>
              <a:srgbClr val="C00000"/>
            </a:solidFill>
            <a:tailEnd type="triangle" w="med" len="med"/>
          </a:ln>
        </p:spPr>
      </p:cxnSp>
      <p:cxnSp>
        <p:nvCxnSpPr>
          <p:cNvPr id="20" name="Connector20"/>
          <p:cNvCxnSpPr>
            <a:cxnSpLocks/>
          </p:cNvCxnSpPr>
          <p:nvPr/>
        </p:nvCxnSpPr>
        <p:spPr>
          <a:xfrm>
            <a:off x="10220310" y="2770000"/>
            <a:ext cx="0" cy="242800"/>
          </a:xfrm>
          <a:prstGeom prst="straightConnector1">
            <a:avLst/>
          </a:prstGeom>
          <a:ln w="15875">
            <a:solidFill>
              <a:srgbClr val="404040"/>
            </a:solidFill>
            <a:tailEnd type="triangle" w="med" len="med"/>
          </a:ln>
        </p:spPr>
      </p:cxnSp>
      <p:sp>
        <p:nvSpPr>
          <p:cNvPr id="21" name="GroupBox21"/>
          <p:cNvSpPr/>
          <p:nvPr/>
        </p:nvSpPr>
        <p:spPr>
          <a:xfrm>
            <a:off x="8549360" y="4912290"/>
            <a:ext cx="3300000" cy="1541960"/>
          </a:xfrm>
          <a:prstGeom prst="rect">
            <a:avLst/>
          </a:prstGeom>
          <a:noFill/>
          <a:ln w="12700">
            <a:solidFill>
              <a:schemeClr val="accent1">
                <a:lumMod val="75000"/>
              </a:schemeClr>
            </a:solidFill>
          </a:ln>
        </p:spPr>
        <p:txBody>
          <a:bodyPr wrap="square" lIns="0" tIns="45720" rIns="0" bIns="0" anchor="t"/>
          <a:lstStyle/>
          <a:p>
            <a:pPr algn="ctr">
              <a:defRPr sz="1300"/>
            </a:pPr>
            <a:r>
              <a:rPr lang="en-IN" sz="1400" dirty="0"/>
              <a:t>EVALUATION &amp; INTEGRATION</a:t>
            </a:r>
          </a:p>
        </p:txBody>
      </p:sp>
      <p:sp>
        <p:nvSpPr>
          <p:cNvPr id="22" name="StepBox22"/>
          <p:cNvSpPr/>
          <p:nvPr/>
        </p:nvSpPr>
        <p:spPr>
          <a:xfrm>
            <a:off x="8660000" y="5270000"/>
            <a:ext cx="3080000" cy="400000"/>
          </a:xfrm>
          <a:prstGeom prst="rect">
            <a:avLst/>
          </a:prstGeom>
          <a:solidFill>
            <a:srgbClr val="70AD47"/>
          </a:solidFill>
          <a:ln w="6350">
            <a:solidFill>
              <a:schemeClr val="accent1">
                <a:lumMod val="75000"/>
              </a:schemeClr>
            </a:solidFill>
          </a:ln>
        </p:spPr>
        <p:txBody>
          <a:bodyPr wrap="square" lIns="45720" rIns="45720" anchor="ctr">
            <a:normAutofit fontScale="97500"/>
          </a:bodyPr>
          <a:lstStyle/>
          <a:p>
            <a:pPr algn="ctr">
              <a:defRPr sz="1500"/>
            </a:pPr>
            <a:r>
              <a:rPr lang="en-US" sz="1200" dirty="0"/>
              <a:t>Step 5: Results Evaluation &amp; Comparison</a:t>
            </a:r>
          </a:p>
        </p:txBody>
      </p:sp>
      <p:sp>
        <p:nvSpPr>
          <p:cNvPr id="23" name="StepBox23"/>
          <p:cNvSpPr/>
          <p:nvPr/>
        </p:nvSpPr>
        <p:spPr>
          <a:xfrm>
            <a:off x="8660000" y="5899250"/>
            <a:ext cx="3080000" cy="400000"/>
          </a:xfrm>
          <a:prstGeom prst="rect">
            <a:avLst/>
          </a:prstGeom>
          <a:solidFill>
            <a:srgbClr val="70AD47"/>
          </a:solidFill>
          <a:ln w="6350">
            <a:solidFill>
              <a:schemeClr val="accent1">
                <a:lumMod val="75000"/>
              </a:schemeClr>
            </a:solidFill>
          </a:ln>
        </p:spPr>
        <p:txBody>
          <a:bodyPr wrap="square" lIns="45720" rIns="45720" anchor="ctr">
            <a:normAutofit fontScale="97500"/>
          </a:bodyPr>
          <a:lstStyle/>
          <a:p>
            <a:pPr algn="ctr">
              <a:defRPr sz="1500"/>
            </a:pPr>
            <a:r>
              <a:rPr lang="en-IN" sz="1200" dirty="0"/>
              <a:t>Step 6: </a:t>
            </a:r>
            <a:r>
              <a:rPr lang="en-IN" sz="1200" dirty="0" err="1"/>
              <a:t>DevSecOps</a:t>
            </a:r>
            <a:r>
              <a:rPr lang="en-IN" sz="1200" dirty="0"/>
              <a:t> Architecture</a:t>
            </a:r>
          </a:p>
        </p:txBody>
      </p:sp>
      <p:cxnSp>
        <p:nvCxnSpPr>
          <p:cNvPr id="24" name="Connector24"/>
          <p:cNvCxnSpPr>
            <a:cxnSpLocks/>
            <a:endCxn id="23" idx="0"/>
          </p:cNvCxnSpPr>
          <p:nvPr/>
        </p:nvCxnSpPr>
        <p:spPr>
          <a:xfrm>
            <a:off x="10200000" y="5670000"/>
            <a:ext cx="0" cy="229250"/>
          </a:xfrm>
          <a:prstGeom prst="straightConnector1">
            <a:avLst/>
          </a:prstGeom>
          <a:ln w="15875">
            <a:solidFill>
              <a:srgbClr val="C00000"/>
            </a:solidFill>
            <a:tailEnd type="triangle" w="med" len="med"/>
          </a:ln>
        </p:spPr>
      </p:cxnSp>
      <p:cxnSp>
        <p:nvCxnSpPr>
          <p:cNvPr id="25" name="Connector25"/>
          <p:cNvCxnSpPr>
            <a:cxnSpLocks/>
            <a:endCxn id="21" idx="0"/>
          </p:cNvCxnSpPr>
          <p:nvPr/>
        </p:nvCxnSpPr>
        <p:spPr>
          <a:xfrm flipH="1">
            <a:off x="10199360" y="4595000"/>
            <a:ext cx="640" cy="317290"/>
          </a:xfrm>
          <a:prstGeom prst="straightConnector1">
            <a:avLst/>
          </a:prstGeom>
          <a:ln w="15875">
            <a:solidFill>
              <a:srgbClr val="404040"/>
            </a:solidFill>
            <a:tailEnd type="triangl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366386" y="1155452"/>
            <a:ext cx="5907153" cy="523220"/>
          </a:xfrm>
          <a:prstGeom prst="rect">
            <a:avLst/>
          </a:prstGeom>
        </p:spPr>
        <p:txBody>
          <a:bodyPr wrap="square">
            <a:spAutoFit/>
          </a:bodyPr>
          <a:lstStyle/>
          <a:p>
            <a:pPr algn="ctr"/>
            <a:r>
              <a:rPr lang="en-US" altLang="en-US" sz="2800" dirty="0">
                <a:latin typeface="Cambria" panose="02040503050406030204" pitchFamily="18" charset="0"/>
                <a:cs typeface="Cambria" panose="02040503050406030204" pitchFamily="18" charset="0"/>
              </a:rPr>
              <a:t>Methodology: </a:t>
            </a:r>
            <a:r>
              <a:rPr lang="en-US" altLang="en-US" sz="2800" dirty="0" err="1">
                <a:latin typeface="Cambria" panose="02040503050406030204" pitchFamily="18" charset="0"/>
                <a:cs typeface="Cambria" panose="02040503050406030204" pitchFamily="18" charset="0"/>
              </a:rPr>
              <a:t>GatekeeperX</a:t>
            </a:r>
            <a:r>
              <a:rPr lang="en-US" altLang="en-US" sz="2800" dirty="0">
                <a:latin typeface="Cambria" panose="02040503050406030204" pitchFamily="18" charset="0"/>
                <a:cs typeface="Cambria" panose="02040503050406030204" pitchFamily="18" charset="0"/>
              </a:rPr>
              <a:t> Algorithm</a:t>
            </a:r>
            <a:endParaRPr lang="en-IN" altLang="en-US" sz="2800" b="1" dirty="0">
              <a:solidFill>
                <a:schemeClr val="accent1">
                  <a:lumMod val="75000"/>
                </a:schemeClr>
              </a:solidFill>
              <a:latin typeface="Cambria" panose="02040503050406030204" pitchFamily="18" charset="0"/>
              <a:cs typeface="Cambria" panose="02040503050406030204" pitchFamily="18" charset="0"/>
            </a:endParaRPr>
          </a:p>
        </p:txBody>
      </p:sp>
      <p:sp>
        <p:nvSpPr>
          <p:cNvPr id="20" name="TextBox 19">
            <a:extLst>
              <a:ext uri="{FF2B5EF4-FFF2-40B4-BE49-F238E27FC236}">
                <a16:creationId xmlns:a16="http://schemas.microsoft.com/office/drawing/2014/main" id="{E7EF9306-483E-36E0-8B44-81C85CD9B273}"/>
              </a:ext>
            </a:extLst>
          </p:cNvPr>
          <p:cNvSpPr txBox="1"/>
          <p:nvPr/>
        </p:nvSpPr>
        <p:spPr>
          <a:xfrm>
            <a:off x="577532" y="1770112"/>
            <a:ext cx="11033760" cy="489364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Step 1: Input Security Job</a:t>
            </a:r>
          </a:p>
          <a:p>
            <a:endParaRPr lang="en-IN" sz="12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Where</a:t>
            </a:r>
          </a:p>
          <a:p>
            <a:r>
              <a:rPr lang="en-IN" sz="1200" dirty="0">
                <a:latin typeface="Times New Roman" panose="02020603050405020304" pitchFamily="18" charset="0"/>
                <a:cs typeface="Times New Roman" panose="02020603050405020304" pitchFamily="18" charset="0"/>
              </a:rPr>
              <a:t>S–Severity, R–Risk, V–Vulnerability, D–Dependency Risk, B–Business Impact, DP–Developer Priority, C–Code Complexity, A–Arrival Time, (T_s)–Service Time.</a:t>
            </a:r>
          </a:p>
          <a:p>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Step 2: Calculate Priority Score</a:t>
            </a:r>
          </a:p>
          <a:p>
            <a:endParaRPr lang="en-IN" sz="12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Equation (2): Combines security and business factors to assign a priority score to each security job.</a:t>
            </a:r>
          </a:p>
          <a:p>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Step 3: Apply Dynamic Aging</a:t>
            </a:r>
          </a:p>
          <a:p>
            <a:endParaRPr lang="en-IN" sz="12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Equation (3): The priority increases according to waiting time, helping to prevent starvation.</a:t>
            </a:r>
          </a:p>
          <a:p>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Step 4: Queue Selection</a:t>
            </a:r>
          </a:p>
          <a:p>
            <a:endParaRPr lang="en-IN" sz="12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Equation (4): The job with the highest dynamic priority is selected for security-gate processing.</a:t>
            </a:r>
          </a:p>
          <a:p>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Step 5: Generate Output</a:t>
            </a:r>
          </a:p>
          <a:p>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Waiting Time → Turnaround Time → Queue Length → Throughput → Utilization</a:t>
            </a:r>
          </a:p>
        </p:txBody>
      </p:sp>
      <p:pic>
        <p:nvPicPr>
          <p:cNvPr id="22" name="Picture 21">
            <a:extLst>
              <a:ext uri="{FF2B5EF4-FFF2-40B4-BE49-F238E27FC236}">
                <a16:creationId xmlns:a16="http://schemas.microsoft.com/office/drawing/2014/main" id="{9C758D38-6128-D654-93C2-7079EEFAEF5B}"/>
              </a:ext>
            </a:extLst>
          </p:cNvPr>
          <p:cNvPicPr>
            <a:picLocks noChangeAspect="1"/>
          </p:cNvPicPr>
          <p:nvPr/>
        </p:nvPicPr>
        <p:blipFill>
          <a:blip r:embed="rId2"/>
          <a:stretch>
            <a:fillRect/>
          </a:stretch>
        </p:blipFill>
        <p:spPr>
          <a:xfrm>
            <a:off x="765810" y="2044729"/>
            <a:ext cx="2752725" cy="314325"/>
          </a:xfrm>
          <a:prstGeom prst="rect">
            <a:avLst/>
          </a:prstGeom>
          <a:solidFill>
            <a:schemeClr val="bg1"/>
          </a:solidFill>
        </p:spPr>
      </p:pic>
      <p:pic>
        <p:nvPicPr>
          <p:cNvPr id="24" name="Picture 23">
            <a:extLst>
              <a:ext uri="{FF2B5EF4-FFF2-40B4-BE49-F238E27FC236}">
                <a16:creationId xmlns:a16="http://schemas.microsoft.com/office/drawing/2014/main" id="{7EBDA0F4-5C33-58FE-D3F0-4F6E72BCF536}"/>
              </a:ext>
            </a:extLst>
          </p:cNvPr>
          <p:cNvPicPr>
            <a:picLocks noChangeAspect="1"/>
          </p:cNvPicPr>
          <p:nvPr/>
        </p:nvPicPr>
        <p:blipFill>
          <a:blip r:embed="rId3"/>
          <a:stretch>
            <a:fillRect/>
          </a:stretch>
        </p:blipFill>
        <p:spPr>
          <a:xfrm>
            <a:off x="670559" y="3271837"/>
            <a:ext cx="5086350" cy="314325"/>
          </a:xfrm>
          <a:prstGeom prst="rect">
            <a:avLst/>
          </a:prstGeom>
          <a:solidFill>
            <a:schemeClr val="bg1"/>
          </a:solidFill>
        </p:spPr>
      </p:pic>
      <p:pic>
        <p:nvPicPr>
          <p:cNvPr id="26" name="Picture 25">
            <a:extLst>
              <a:ext uri="{FF2B5EF4-FFF2-40B4-BE49-F238E27FC236}">
                <a16:creationId xmlns:a16="http://schemas.microsoft.com/office/drawing/2014/main" id="{00502181-BB33-635A-4D42-99B0197CDE46}"/>
              </a:ext>
            </a:extLst>
          </p:cNvPr>
          <p:cNvPicPr>
            <a:picLocks noChangeAspect="1"/>
          </p:cNvPicPr>
          <p:nvPr/>
        </p:nvPicPr>
        <p:blipFill>
          <a:blip r:embed="rId4"/>
          <a:stretch>
            <a:fillRect/>
          </a:stretch>
        </p:blipFill>
        <p:spPr>
          <a:xfrm>
            <a:off x="765810" y="4280264"/>
            <a:ext cx="2143125" cy="285750"/>
          </a:xfrm>
          <a:prstGeom prst="rect">
            <a:avLst/>
          </a:prstGeom>
          <a:solidFill>
            <a:schemeClr val="bg1"/>
          </a:solidFill>
        </p:spPr>
      </p:pic>
      <p:pic>
        <p:nvPicPr>
          <p:cNvPr id="28" name="Picture 27">
            <a:extLst>
              <a:ext uri="{FF2B5EF4-FFF2-40B4-BE49-F238E27FC236}">
                <a16:creationId xmlns:a16="http://schemas.microsoft.com/office/drawing/2014/main" id="{0A03F36E-B764-979B-008A-0389A68B8554}"/>
              </a:ext>
            </a:extLst>
          </p:cNvPr>
          <p:cNvPicPr>
            <a:picLocks noChangeAspect="1"/>
          </p:cNvPicPr>
          <p:nvPr/>
        </p:nvPicPr>
        <p:blipFill>
          <a:blip r:embed="rId5"/>
          <a:stretch>
            <a:fillRect/>
          </a:stretch>
        </p:blipFill>
        <p:spPr>
          <a:xfrm>
            <a:off x="765810" y="5144127"/>
            <a:ext cx="1666875" cy="423553"/>
          </a:xfrm>
          <a:prstGeom prst="rect">
            <a:avLst/>
          </a:prstGeom>
          <a:solidFill>
            <a:schemeClr val="bg1"/>
          </a:solidFill>
        </p:spPr>
      </p:pic>
      <p:sp>
        <p:nvSpPr>
          <p:cNvPr id="3" name="TextBox 2">
            <a:extLst>
              <a:ext uri="{FF2B5EF4-FFF2-40B4-BE49-F238E27FC236}">
                <a16:creationId xmlns:a16="http://schemas.microsoft.com/office/drawing/2014/main" id="{CDD516E8-FBFC-F55C-722B-B9EEE9E7B715}"/>
              </a:ext>
            </a:extLst>
          </p:cNvPr>
          <p:cNvSpPr txBox="1"/>
          <p:nvPr/>
        </p:nvSpPr>
        <p:spPr>
          <a:xfrm>
            <a:off x="7835899" y="2044729"/>
            <a:ext cx="2875280" cy="338554"/>
          </a:xfrm>
          <a:prstGeom prst="rect">
            <a:avLst/>
          </a:prstGeom>
          <a:noFill/>
        </p:spPr>
        <p:txBody>
          <a:bodyPr wrap="square" rtlCol="0">
            <a:spAutoFit/>
          </a:bodyPr>
          <a:lstStyle/>
          <a:p>
            <a:r>
              <a:rPr lang="en-IN" sz="1600" b="1" dirty="0">
                <a:latin typeface="Cambria" panose="02040503050406030204" pitchFamily="18" charset="0"/>
              </a:rPr>
              <a:t>-- Equation (1)</a:t>
            </a:r>
          </a:p>
        </p:txBody>
      </p:sp>
      <p:sp>
        <p:nvSpPr>
          <p:cNvPr id="5" name="TextBox 4">
            <a:extLst>
              <a:ext uri="{FF2B5EF4-FFF2-40B4-BE49-F238E27FC236}">
                <a16:creationId xmlns:a16="http://schemas.microsoft.com/office/drawing/2014/main" id="{8B421B1C-15F2-8700-4A2C-5B61EE4D424D}"/>
              </a:ext>
            </a:extLst>
          </p:cNvPr>
          <p:cNvSpPr txBox="1"/>
          <p:nvPr/>
        </p:nvSpPr>
        <p:spPr>
          <a:xfrm>
            <a:off x="7835899" y="5144127"/>
            <a:ext cx="2875280" cy="338554"/>
          </a:xfrm>
          <a:prstGeom prst="rect">
            <a:avLst/>
          </a:prstGeom>
          <a:noFill/>
        </p:spPr>
        <p:txBody>
          <a:bodyPr wrap="square" rtlCol="0">
            <a:spAutoFit/>
          </a:bodyPr>
          <a:lstStyle/>
          <a:p>
            <a:r>
              <a:rPr lang="en-IN" sz="1600" b="1" dirty="0">
                <a:latin typeface="Cambria" panose="02040503050406030204" pitchFamily="18" charset="0"/>
                <a:ea typeface="Cambria" panose="02040503050406030204" pitchFamily="18" charset="0"/>
              </a:rPr>
              <a:t>-- Equation (4)</a:t>
            </a:r>
          </a:p>
        </p:txBody>
      </p:sp>
      <p:sp>
        <p:nvSpPr>
          <p:cNvPr id="7" name="TextBox 6">
            <a:extLst>
              <a:ext uri="{FF2B5EF4-FFF2-40B4-BE49-F238E27FC236}">
                <a16:creationId xmlns:a16="http://schemas.microsoft.com/office/drawing/2014/main" id="{438E17BF-EA3C-5912-8DE9-9AFBA84A340F}"/>
              </a:ext>
            </a:extLst>
          </p:cNvPr>
          <p:cNvSpPr txBox="1"/>
          <p:nvPr/>
        </p:nvSpPr>
        <p:spPr>
          <a:xfrm>
            <a:off x="7782560" y="4047658"/>
            <a:ext cx="2875280" cy="338554"/>
          </a:xfrm>
          <a:prstGeom prst="rect">
            <a:avLst/>
          </a:prstGeom>
          <a:noFill/>
        </p:spPr>
        <p:txBody>
          <a:bodyPr wrap="square" rtlCol="0">
            <a:spAutoFit/>
          </a:bodyPr>
          <a:lstStyle/>
          <a:p>
            <a:r>
              <a:rPr lang="en-IN" sz="1600" b="1" dirty="0">
                <a:latin typeface="Cambria" panose="02040503050406030204" pitchFamily="18" charset="0"/>
                <a:ea typeface="Cambria" panose="02040503050406030204" pitchFamily="18" charset="0"/>
              </a:rPr>
              <a:t>-- Equation (3)</a:t>
            </a:r>
          </a:p>
        </p:txBody>
      </p:sp>
      <p:sp>
        <p:nvSpPr>
          <p:cNvPr id="11" name="TextBox 10">
            <a:extLst>
              <a:ext uri="{FF2B5EF4-FFF2-40B4-BE49-F238E27FC236}">
                <a16:creationId xmlns:a16="http://schemas.microsoft.com/office/drawing/2014/main" id="{4FA19CD3-B29F-37A2-6C9E-87E7D813706F}"/>
              </a:ext>
            </a:extLst>
          </p:cNvPr>
          <p:cNvSpPr txBox="1"/>
          <p:nvPr/>
        </p:nvSpPr>
        <p:spPr>
          <a:xfrm>
            <a:off x="7835899" y="3102560"/>
            <a:ext cx="2875280" cy="338554"/>
          </a:xfrm>
          <a:prstGeom prst="rect">
            <a:avLst/>
          </a:prstGeom>
          <a:noFill/>
        </p:spPr>
        <p:txBody>
          <a:bodyPr wrap="square" rtlCol="0">
            <a:spAutoFit/>
          </a:bodyPr>
          <a:lstStyle/>
          <a:p>
            <a:r>
              <a:rPr lang="en-IN" sz="1600" b="1" dirty="0">
                <a:latin typeface="Cambria" panose="02040503050406030204" pitchFamily="18" charset="0"/>
                <a:ea typeface="Cambria" panose="02040503050406030204" pitchFamily="18" charset="0"/>
              </a:rPr>
              <a:t>-- Equation (2)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220285-93DA-6936-B153-D448F7FAB070}"/>
              </a:ext>
            </a:extLst>
          </p:cNvPr>
          <p:cNvSpPr txBox="1"/>
          <p:nvPr/>
        </p:nvSpPr>
        <p:spPr>
          <a:xfrm>
            <a:off x="303212" y="1530548"/>
            <a:ext cx="11216640" cy="5078313"/>
          </a:xfrm>
          <a:prstGeom prst="rect">
            <a:avLst/>
          </a:prstGeom>
          <a:noFill/>
        </p:spPr>
        <p:txBody>
          <a:bodyPr wrap="square" rtlCol="0">
            <a:spAutoFit/>
          </a:bodyPr>
          <a:lstStyle/>
          <a:p>
            <a:pPr marL="342900" indent="-342900">
              <a:buAutoNum type="arabicPeriod"/>
            </a:pPr>
            <a:r>
              <a:rPr lang="en-IN" b="1" dirty="0">
                <a:latin typeface="Cambria" panose="02040503050406030204" pitchFamily="18" charset="0"/>
                <a:ea typeface="Cambria" panose="02040503050406030204" pitchFamily="18" charset="0"/>
              </a:rPr>
              <a:t>Priority Score Calculation</a:t>
            </a:r>
          </a:p>
          <a:p>
            <a:pPr marL="342900" indent="-342900">
              <a:buAutoNum type="arabicPeriod"/>
            </a:pPr>
            <a:endParaRPr lang="en-IN" dirty="0">
              <a:latin typeface="Cambria" panose="02040503050406030204" pitchFamily="18" charset="0"/>
              <a:ea typeface="Cambria" panose="02040503050406030204" pitchFamily="18" charset="0"/>
            </a:endParaRPr>
          </a:p>
          <a:p>
            <a:endParaRPr lang="en-IN"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2. Dynamic Priority Calculation</a:t>
            </a:r>
          </a:p>
          <a:p>
            <a:r>
              <a:rPr lang="en-IN" b="1" dirty="0">
                <a:latin typeface="Cambria" panose="02040503050406030204" pitchFamily="18" charset="0"/>
                <a:ea typeface="Cambria" panose="02040503050406030204" pitchFamily="18" charset="0"/>
              </a:rPr>
              <a:t>Assume:</a:t>
            </a:r>
          </a:p>
          <a:p>
            <a:endParaRPr lang="en-IN" dirty="0">
              <a:latin typeface="Cambria" panose="02040503050406030204" pitchFamily="18" charset="0"/>
              <a:ea typeface="Cambria" panose="02040503050406030204" pitchFamily="18" charset="0"/>
            </a:endParaRPr>
          </a:p>
          <a:p>
            <a:endParaRPr lang="en-IN"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Equation (3):</a:t>
            </a:r>
          </a:p>
          <a:p>
            <a:endParaRPr lang="en-IN" b="1" dirty="0">
              <a:latin typeface="Cambria" panose="02040503050406030204" pitchFamily="18" charset="0"/>
              <a:ea typeface="Cambria" panose="02040503050406030204" pitchFamily="18" charset="0"/>
            </a:endParaRPr>
          </a:p>
          <a:p>
            <a:endParaRPr lang="en-IN" dirty="0">
              <a:latin typeface="Cambria" panose="02040503050406030204" pitchFamily="18" charset="0"/>
              <a:ea typeface="Cambria" panose="02040503050406030204" pitchFamily="18" charset="0"/>
            </a:endParaRPr>
          </a:p>
          <a:p>
            <a:endParaRPr lang="en-IN" dirty="0">
              <a:latin typeface="Cambria" panose="02040503050406030204" pitchFamily="18" charset="0"/>
              <a:ea typeface="Cambria" panose="02040503050406030204" pitchFamily="18" charset="0"/>
            </a:endParaRPr>
          </a:p>
          <a:p>
            <a:endParaRPr lang="en-IN"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Final Result : </a:t>
            </a:r>
          </a:p>
          <a:p>
            <a:endParaRPr lang="en-IN" dirty="0">
              <a:latin typeface="Cambria" panose="02040503050406030204" pitchFamily="18" charset="0"/>
              <a:ea typeface="Cambria" panose="02040503050406030204" pitchFamily="18" charset="0"/>
            </a:endParaRPr>
          </a:p>
          <a:p>
            <a:r>
              <a:rPr lang="en-US" b="1" dirty="0">
                <a:latin typeface="Cambria" panose="02040503050406030204" pitchFamily="18" charset="0"/>
                <a:ea typeface="Cambria" panose="02040503050406030204" pitchFamily="18" charset="0"/>
              </a:rPr>
              <a:t>Priority: </a:t>
            </a:r>
            <a:r>
              <a:rPr lang="en-US" dirty="0">
                <a:latin typeface="Cambria" panose="02040503050406030204" pitchFamily="18" charset="0"/>
                <a:ea typeface="Cambria" panose="02040503050406030204" pitchFamily="18" charset="0"/>
              </a:rPr>
              <a:t>74.5⟶Dynamic Priority: 84.5</a:t>
            </a:r>
          </a:p>
          <a:p>
            <a:endParaRPr lang="en-IN" b="1" dirty="0"/>
          </a:p>
          <a:p>
            <a:r>
              <a:rPr lang="en-IN" b="1" dirty="0">
                <a:latin typeface="Cambria" panose="02040503050406030204" pitchFamily="18" charset="0"/>
                <a:ea typeface="Cambria" panose="02040503050406030204" pitchFamily="18" charset="0"/>
              </a:rPr>
              <a:t>Interpretation: </a:t>
            </a:r>
            <a:r>
              <a:rPr lang="en-IN" dirty="0">
                <a:latin typeface="Cambria" panose="02040503050406030204" pitchFamily="18" charset="0"/>
                <a:ea typeface="Cambria" panose="02040503050406030204" pitchFamily="18" charset="0"/>
              </a:rPr>
              <a:t>After waiting for 20 minutes, the security job's priority increases from 74.5 to 84.5, improving fairness and reducing starvation.</a:t>
            </a:r>
          </a:p>
        </p:txBody>
      </p:sp>
      <p:graphicFrame>
        <p:nvGraphicFramePr>
          <p:cNvPr id="3" name="Table 2">
            <a:extLst>
              <a:ext uri="{FF2B5EF4-FFF2-40B4-BE49-F238E27FC236}">
                <a16:creationId xmlns:a16="http://schemas.microsoft.com/office/drawing/2014/main" id="{35A8D0F3-CB38-42E8-7960-AF23D1262A6E}"/>
              </a:ext>
            </a:extLst>
          </p:cNvPr>
          <p:cNvGraphicFramePr>
            <a:graphicFrameLocks noGrp="1"/>
          </p:cNvGraphicFramePr>
          <p:nvPr>
            <p:extLst>
              <p:ext uri="{D42A27DB-BD31-4B8C-83A1-F6EECF244321}">
                <p14:modId xmlns:p14="http://schemas.microsoft.com/office/powerpoint/2010/main" val="2739503636"/>
              </p:ext>
            </p:extLst>
          </p:nvPr>
        </p:nvGraphicFramePr>
        <p:xfrm>
          <a:off x="7426960" y="2240031"/>
          <a:ext cx="4458653" cy="3358792"/>
        </p:xfrm>
        <a:graphic>
          <a:graphicData uri="http://schemas.openxmlformats.org/drawingml/2006/table">
            <a:tbl>
              <a:tblPr firstRow="1" bandRow="1">
                <a:tableStyleId>{5C22544A-7EE6-4342-B048-85BDC9FD1C3A}</a:tableStyleId>
              </a:tblPr>
              <a:tblGrid>
                <a:gridCol w="3027680">
                  <a:extLst>
                    <a:ext uri="{9D8B030D-6E8A-4147-A177-3AD203B41FA5}">
                      <a16:colId xmlns:a16="http://schemas.microsoft.com/office/drawing/2014/main" val="2644501780"/>
                    </a:ext>
                  </a:extLst>
                </a:gridCol>
                <a:gridCol w="1430973">
                  <a:extLst>
                    <a:ext uri="{9D8B030D-6E8A-4147-A177-3AD203B41FA5}">
                      <a16:colId xmlns:a16="http://schemas.microsoft.com/office/drawing/2014/main" val="2461260803"/>
                    </a:ext>
                  </a:extLst>
                </a:gridCol>
              </a:tblGrid>
              <a:tr h="556006">
                <a:tc>
                  <a:txBody>
                    <a:bodyPr/>
                    <a:lstStyle/>
                    <a:p>
                      <a:pPr algn="ctr"/>
                      <a:r>
                        <a:rPr lang="en-IN" sz="2400" dirty="0">
                          <a:latin typeface="Cambria" panose="02040503050406030204" pitchFamily="18" charset="0"/>
                          <a:ea typeface="Cambria" panose="02040503050406030204" pitchFamily="18" charset="0"/>
                        </a:rPr>
                        <a:t>Parameter</a:t>
                      </a:r>
                      <a:endParaRPr lang="en-IN" sz="1800" dirty="0">
                        <a:latin typeface="Cambria" panose="02040503050406030204" pitchFamily="18" charset="0"/>
                        <a:ea typeface="Cambria" panose="02040503050406030204" pitchFamily="18" charset="0"/>
                      </a:endParaRPr>
                    </a:p>
                  </a:txBody>
                  <a:tcPr/>
                </a:tc>
                <a:tc>
                  <a:txBody>
                    <a:bodyPr/>
                    <a:lstStyle/>
                    <a:p>
                      <a:pPr algn="ctr"/>
                      <a:r>
                        <a:rPr lang="en-IN" sz="2800" dirty="0">
                          <a:latin typeface="Cambria" panose="02040503050406030204" pitchFamily="18" charset="0"/>
                          <a:ea typeface="Cambria" panose="02040503050406030204" pitchFamily="18" charset="0"/>
                        </a:rPr>
                        <a:t>Value</a:t>
                      </a:r>
                      <a:endParaRPr lang="en-IN" sz="18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915717645"/>
                  </a:ext>
                </a:extLst>
              </a:tr>
              <a:tr h="400398">
                <a:tc>
                  <a:txBody>
                    <a:bodyPr/>
                    <a:lstStyle/>
                    <a:p>
                      <a:pPr algn="ctr"/>
                      <a:r>
                        <a:rPr lang="en-IN" sz="2000" dirty="0">
                          <a:latin typeface="Cambria" panose="02040503050406030204" pitchFamily="18" charset="0"/>
                          <a:ea typeface="Cambria" panose="02040503050406030204" pitchFamily="18" charset="0"/>
                        </a:rPr>
                        <a:t>Severity Score (S) </a:t>
                      </a:r>
                    </a:p>
                  </a:txBody>
                  <a:tcPr/>
                </a:tc>
                <a:tc>
                  <a:txBody>
                    <a:bodyPr/>
                    <a:lstStyle/>
                    <a:p>
                      <a:pPr algn="ctr"/>
                      <a:r>
                        <a:rPr lang="en-IN" sz="2000" dirty="0">
                          <a:latin typeface="Cambria" panose="02040503050406030204" pitchFamily="18" charset="0"/>
                          <a:ea typeface="Cambria" panose="02040503050406030204" pitchFamily="18" charset="0"/>
                        </a:rPr>
                        <a:t>75 </a:t>
                      </a:r>
                    </a:p>
                  </a:txBody>
                  <a:tcPr/>
                </a:tc>
                <a:extLst>
                  <a:ext uri="{0D108BD9-81ED-4DB2-BD59-A6C34878D82A}">
                    <a16:rowId xmlns:a16="http://schemas.microsoft.com/office/drawing/2014/main" val="2472112608"/>
                  </a:ext>
                </a:extLst>
              </a:tr>
              <a:tr h="400398">
                <a:tc>
                  <a:txBody>
                    <a:bodyPr/>
                    <a:lstStyle/>
                    <a:p>
                      <a:pPr algn="ctr"/>
                      <a:r>
                        <a:rPr lang="en-IN" sz="2000" dirty="0">
                          <a:latin typeface="Cambria" panose="02040503050406030204" pitchFamily="18" charset="0"/>
                          <a:ea typeface="Cambria" panose="02040503050406030204" pitchFamily="18" charset="0"/>
                        </a:rPr>
                        <a:t>Risk Score (R) </a:t>
                      </a:r>
                    </a:p>
                  </a:txBody>
                  <a:tcPr/>
                </a:tc>
                <a:tc>
                  <a:txBody>
                    <a:bodyPr/>
                    <a:lstStyle/>
                    <a:p>
                      <a:pPr algn="ctr"/>
                      <a:r>
                        <a:rPr lang="en-IN" sz="2000" dirty="0">
                          <a:latin typeface="Cambria" panose="02040503050406030204" pitchFamily="18" charset="0"/>
                          <a:ea typeface="Cambria" panose="02040503050406030204" pitchFamily="18" charset="0"/>
                        </a:rPr>
                        <a:t> 80 </a:t>
                      </a:r>
                    </a:p>
                  </a:txBody>
                  <a:tcPr/>
                </a:tc>
                <a:extLst>
                  <a:ext uri="{0D108BD9-81ED-4DB2-BD59-A6C34878D82A}">
                    <a16:rowId xmlns:a16="http://schemas.microsoft.com/office/drawing/2014/main" val="4288240339"/>
                  </a:ext>
                </a:extLst>
              </a:tr>
              <a:tr h="400398">
                <a:tc>
                  <a:txBody>
                    <a:bodyPr/>
                    <a:lstStyle/>
                    <a:p>
                      <a:pPr algn="ctr"/>
                      <a:r>
                        <a:rPr lang="en-IN" sz="2000" dirty="0">
                          <a:latin typeface="Cambria" panose="02040503050406030204" pitchFamily="18" charset="0"/>
                          <a:ea typeface="Cambria" panose="02040503050406030204" pitchFamily="18" charset="0"/>
                        </a:rPr>
                        <a:t>Vulnerability Score (V) </a:t>
                      </a:r>
                    </a:p>
                  </a:txBody>
                  <a:tcPr/>
                </a:tc>
                <a:tc>
                  <a:txBody>
                    <a:bodyPr/>
                    <a:lstStyle/>
                    <a:p>
                      <a:pPr algn="ctr"/>
                      <a:r>
                        <a:rPr lang="en-IN" sz="2000" dirty="0">
                          <a:latin typeface="Cambria" panose="02040503050406030204" pitchFamily="18" charset="0"/>
                          <a:ea typeface="Cambria" panose="02040503050406030204" pitchFamily="18" charset="0"/>
                        </a:rPr>
                        <a:t> 60 </a:t>
                      </a:r>
                    </a:p>
                  </a:txBody>
                  <a:tcPr/>
                </a:tc>
                <a:extLst>
                  <a:ext uri="{0D108BD9-81ED-4DB2-BD59-A6C34878D82A}">
                    <a16:rowId xmlns:a16="http://schemas.microsoft.com/office/drawing/2014/main" val="3901737022"/>
                  </a:ext>
                </a:extLst>
              </a:tr>
              <a:tr h="400398">
                <a:tc>
                  <a:txBody>
                    <a:bodyPr/>
                    <a:lstStyle/>
                    <a:p>
                      <a:pPr algn="ctr"/>
                      <a:r>
                        <a:rPr lang="en-IN" sz="2000" dirty="0">
                          <a:latin typeface="Cambria" panose="02040503050406030204" pitchFamily="18" charset="0"/>
                          <a:ea typeface="Cambria" panose="02040503050406030204" pitchFamily="18" charset="0"/>
                        </a:rPr>
                        <a:t>Dependency Risk (D) </a:t>
                      </a:r>
                    </a:p>
                  </a:txBody>
                  <a:tcPr/>
                </a:tc>
                <a:tc>
                  <a:txBody>
                    <a:bodyPr/>
                    <a:lstStyle/>
                    <a:p>
                      <a:pPr algn="ctr"/>
                      <a:r>
                        <a:rPr lang="en-IN" sz="2000" dirty="0">
                          <a:latin typeface="Cambria" panose="02040503050406030204" pitchFamily="18" charset="0"/>
                          <a:ea typeface="Cambria" panose="02040503050406030204" pitchFamily="18" charset="0"/>
                        </a:rPr>
                        <a:t>70</a:t>
                      </a:r>
                    </a:p>
                  </a:txBody>
                  <a:tcPr/>
                </a:tc>
                <a:extLst>
                  <a:ext uri="{0D108BD9-81ED-4DB2-BD59-A6C34878D82A}">
                    <a16:rowId xmlns:a16="http://schemas.microsoft.com/office/drawing/2014/main" val="2733562151"/>
                  </a:ext>
                </a:extLst>
              </a:tr>
              <a:tr h="400398">
                <a:tc>
                  <a:txBody>
                    <a:bodyPr/>
                    <a:lstStyle/>
                    <a:p>
                      <a:pPr algn="ctr"/>
                      <a:r>
                        <a:rPr lang="en-IN" sz="2000" dirty="0">
                          <a:latin typeface="Cambria" panose="02040503050406030204" pitchFamily="18" charset="0"/>
                          <a:ea typeface="Cambria" panose="02040503050406030204" pitchFamily="18" charset="0"/>
                        </a:rPr>
                        <a:t>Business Impact (B) </a:t>
                      </a:r>
                    </a:p>
                  </a:txBody>
                  <a:tcPr/>
                </a:tc>
                <a:tc>
                  <a:txBody>
                    <a:bodyPr/>
                    <a:lstStyle/>
                    <a:p>
                      <a:pPr algn="ctr"/>
                      <a:r>
                        <a:rPr lang="en-IN" sz="2000" dirty="0">
                          <a:latin typeface="Cambria" panose="02040503050406030204" pitchFamily="18" charset="0"/>
                          <a:ea typeface="Cambria" panose="02040503050406030204" pitchFamily="18" charset="0"/>
                        </a:rPr>
                        <a:t>90</a:t>
                      </a:r>
                    </a:p>
                  </a:txBody>
                  <a:tcPr/>
                </a:tc>
                <a:extLst>
                  <a:ext uri="{0D108BD9-81ED-4DB2-BD59-A6C34878D82A}">
                    <a16:rowId xmlns:a16="http://schemas.microsoft.com/office/drawing/2014/main" val="2353271224"/>
                  </a:ext>
                </a:extLst>
              </a:tr>
              <a:tr h="400398">
                <a:tc>
                  <a:txBody>
                    <a:bodyPr/>
                    <a:lstStyle/>
                    <a:p>
                      <a:pPr algn="ctr"/>
                      <a:r>
                        <a:rPr lang="en-IN" sz="2000" dirty="0">
                          <a:latin typeface="Cambria" panose="02040503050406030204" pitchFamily="18" charset="0"/>
                          <a:ea typeface="Cambria" panose="02040503050406030204" pitchFamily="18" charset="0"/>
                        </a:rPr>
                        <a:t>Developer Priority (DP) </a:t>
                      </a:r>
                    </a:p>
                  </a:txBody>
                  <a:tcPr/>
                </a:tc>
                <a:tc>
                  <a:txBody>
                    <a:bodyPr/>
                    <a:lstStyle/>
                    <a:p>
                      <a:pPr algn="ctr"/>
                      <a:r>
                        <a:rPr lang="en-IN" sz="2000" dirty="0">
                          <a:latin typeface="Cambria" panose="02040503050406030204" pitchFamily="18" charset="0"/>
                          <a:ea typeface="Cambria" panose="02040503050406030204" pitchFamily="18" charset="0"/>
                        </a:rPr>
                        <a:t> 80 </a:t>
                      </a:r>
                    </a:p>
                  </a:txBody>
                  <a:tcPr/>
                </a:tc>
                <a:extLst>
                  <a:ext uri="{0D108BD9-81ED-4DB2-BD59-A6C34878D82A}">
                    <a16:rowId xmlns:a16="http://schemas.microsoft.com/office/drawing/2014/main" val="3215652099"/>
                  </a:ext>
                </a:extLst>
              </a:tr>
              <a:tr h="400398">
                <a:tc>
                  <a:txBody>
                    <a:bodyPr/>
                    <a:lstStyle/>
                    <a:p>
                      <a:pPr algn="ctr"/>
                      <a:r>
                        <a:rPr lang="en-IN" sz="2000" dirty="0">
                          <a:latin typeface="Cambria" panose="02040503050406030204" pitchFamily="18" charset="0"/>
                          <a:ea typeface="Cambria" panose="02040503050406030204" pitchFamily="18" charset="0"/>
                        </a:rPr>
                        <a:t>Code Complexity (C) </a:t>
                      </a:r>
                    </a:p>
                  </a:txBody>
                  <a:tcPr/>
                </a:tc>
                <a:tc>
                  <a:txBody>
                    <a:bodyPr/>
                    <a:lstStyle/>
                    <a:p>
                      <a:pPr algn="ctr"/>
                      <a:r>
                        <a:rPr lang="en-IN" sz="2000" dirty="0">
                          <a:latin typeface="Cambria" panose="02040503050406030204" pitchFamily="18" charset="0"/>
                          <a:ea typeface="Cambria" panose="02040503050406030204" pitchFamily="18" charset="0"/>
                        </a:rPr>
                        <a:t>60</a:t>
                      </a:r>
                    </a:p>
                  </a:txBody>
                  <a:tcPr/>
                </a:tc>
                <a:extLst>
                  <a:ext uri="{0D108BD9-81ED-4DB2-BD59-A6C34878D82A}">
                    <a16:rowId xmlns:a16="http://schemas.microsoft.com/office/drawing/2014/main" val="2004866339"/>
                  </a:ext>
                </a:extLst>
              </a:tr>
            </a:tbl>
          </a:graphicData>
        </a:graphic>
      </p:graphicFrame>
      <p:sp>
        <p:nvSpPr>
          <p:cNvPr id="4" name="TextBox 3">
            <a:extLst>
              <a:ext uri="{FF2B5EF4-FFF2-40B4-BE49-F238E27FC236}">
                <a16:creationId xmlns:a16="http://schemas.microsoft.com/office/drawing/2014/main" id="{997F005E-216D-10C7-DEF3-149F6961CC46}"/>
              </a:ext>
            </a:extLst>
          </p:cNvPr>
          <p:cNvSpPr txBox="1"/>
          <p:nvPr/>
        </p:nvSpPr>
        <p:spPr>
          <a:xfrm>
            <a:off x="7426960" y="1642679"/>
            <a:ext cx="3104192" cy="461665"/>
          </a:xfrm>
          <a:prstGeom prst="rect">
            <a:avLst/>
          </a:prstGeom>
          <a:noFill/>
        </p:spPr>
        <p:txBody>
          <a:bodyPr wrap="square" rtlCol="0">
            <a:spAutoFit/>
          </a:bodyPr>
          <a:lstStyle/>
          <a:p>
            <a:r>
              <a:rPr lang="en-IN" sz="2400" b="1" dirty="0">
                <a:latin typeface="Cambria" panose="02040503050406030204" pitchFamily="18" charset="0"/>
                <a:ea typeface="Cambria" panose="02040503050406030204" pitchFamily="18" charset="0"/>
              </a:rPr>
              <a:t>Sample Security Job</a:t>
            </a:r>
          </a:p>
        </p:txBody>
      </p:sp>
      <p:pic>
        <p:nvPicPr>
          <p:cNvPr id="8" name="Picture 7">
            <a:extLst>
              <a:ext uri="{FF2B5EF4-FFF2-40B4-BE49-F238E27FC236}">
                <a16:creationId xmlns:a16="http://schemas.microsoft.com/office/drawing/2014/main" id="{754A7FDC-BC47-8876-089B-75C1F25A0C6E}"/>
              </a:ext>
            </a:extLst>
          </p:cNvPr>
          <p:cNvPicPr>
            <a:picLocks noChangeAspect="1"/>
          </p:cNvPicPr>
          <p:nvPr/>
        </p:nvPicPr>
        <p:blipFill>
          <a:blip r:embed="rId2"/>
          <a:stretch>
            <a:fillRect/>
          </a:stretch>
        </p:blipFill>
        <p:spPr>
          <a:xfrm>
            <a:off x="445453" y="1935966"/>
            <a:ext cx="4409094" cy="439688"/>
          </a:xfrm>
          <a:prstGeom prst="rect">
            <a:avLst/>
          </a:prstGeom>
          <a:solidFill>
            <a:schemeClr val="bg1"/>
          </a:solidFill>
        </p:spPr>
      </p:pic>
      <p:pic>
        <p:nvPicPr>
          <p:cNvPr id="10" name="Picture 9">
            <a:extLst>
              <a:ext uri="{FF2B5EF4-FFF2-40B4-BE49-F238E27FC236}">
                <a16:creationId xmlns:a16="http://schemas.microsoft.com/office/drawing/2014/main" id="{B0264D21-A2E0-0D53-0AEA-BF5612C7B3F8}"/>
              </a:ext>
            </a:extLst>
          </p:cNvPr>
          <p:cNvPicPr>
            <a:picLocks noChangeAspect="1"/>
          </p:cNvPicPr>
          <p:nvPr/>
        </p:nvPicPr>
        <p:blipFill>
          <a:blip r:embed="rId3"/>
          <a:stretch>
            <a:fillRect/>
          </a:stretch>
        </p:blipFill>
        <p:spPr>
          <a:xfrm>
            <a:off x="386951" y="2989311"/>
            <a:ext cx="2879254" cy="439689"/>
          </a:xfrm>
          <a:prstGeom prst="rect">
            <a:avLst/>
          </a:prstGeom>
          <a:solidFill>
            <a:schemeClr val="bg1"/>
          </a:solidFill>
        </p:spPr>
      </p:pic>
      <p:pic>
        <p:nvPicPr>
          <p:cNvPr id="12" name="Picture 11">
            <a:extLst>
              <a:ext uri="{FF2B5EF4-FFF2-40B4-BE49-F238E27FC236}">
                <a16:creationId xmlns:a16="http://schemas.microsoft.com/office/drawing/2014/main" id="{736E8734-4477-AE10-2114-DBF1AFF50616}"/>
              </a:ext>
            </a:extLst>
          </p:cNvPr>
          <p:cNvPicPr>
            <a:picLocks noChangeAspect="1"/>
          </p:cNvPicPr>
          <p:nvPr/>
        </p:nvPicPr>
        <p:blipFill>
          <a:blip r:embed="rId4"/>
          <a:stretch>
            <a:fillRect/>
          </a:stretch>
        </p:blipFill>
        <p:spPr>
          <a:xfrm>
            <a:off x="303212" y="3834417"/>
            <a:ext cx="3479198" cy="923787"/>
          </a:xfrm>
          <a:prstGeom prst="rect">
            <a:avLst/>
          </a:prstGeom>
          <a:solidFill>
            <a:schemeClr val="bg1"/>
          </a:solidFill>
        </p:spPr>
      </p:pic>
      <p:sp>
        <p:nvSpPr>
          <p:cNvPr id="13" name="TextBox 12">
            <a:extLst>
              <a:ext uri="{FF2B5EF4-FFF2-40B4-BE49-F238E27FC236}">
                <a16:creationId xmlns:a16="http://schemas.microsoft.com/office/drawing/2014/main" id="{970BE734-C1C3-2C12-9608-454252240D55}"/>
              </a:ext>
            </a:extLst>
          </p:cNvPr>
          <p:cNvSpPr txBox="1"/>
          <p:nvPr/>
        </p:nvSpPr>
        <p:spPr>
          <a:xfrm>
            <a:off x="4371325" y="1076106"/>
            <a:ext cx="3446173" cy="523220"/>
          </a:xfrm>
          <a:prstGeom prst="rect">
            <a:avLst/>
          </a:prstGeom>
          <a:noFill/>
        </p:spPr>
        <p:txBody>
          <a:bodyPr wrap="square" rtlCol="0">
            <a:spAutoFit/>
          </a:bodyPr>
          <a:lstStyle/>
          <a:p>
            <a:r>
              <a:rPr lang="en-IN" sz="2800" b="1" dirty="0">
                <a:solidFill>
                  <a:schemeClr val="accent1">
                    <a:lumMod val="75000"/>
                  </a:schemeClr>
                </a:solidFill>
                <a:latin typeface="Cambria" panose="02040503050406030204" pitchFamily="18" charset="0"/>
                <a:ea typeface="Cambria" panose="02040503050406030204" pitchFamily="18" charset="0"/>
              </a:rPr>
              <a:t>Sample Calculation</a:t>
            </a:r>
          </a:p>
        </p:txBody>
      </p:sp>
      <p:sp>
        <p:nvSpPr>
          <p:cNvPr id="6" name="TextBox 5">
            <a:extLst>
              <a:ext uri="{FF2B5EF4-FFF2-40B4-BE49-F238E27FC236}">
                <a16:creationId xmlns:a16="http://schemas.microsoft.com/office/drawing/2014/main" id="{C703AEE7-0B2A-3A98-840E-3C8814A80989}"/>
              </a:ext>
            </a:extLst>
          </p:cNvPr>
          <p:cNvSpPr txBox="1"/>
          <p:nvPr/>
        </p:nvSpPr>
        <p:spPr>
          <a:xfrm>
            <a:off x="5233351" y="2037100"/>
            <a:ext cx="2875280" cy="338554"/>
          </a:xfrm>
          <a:prstGeom prst="rect">
            <a:avLst/>
          </a:prstGeom>
          <a:noFill/>
        </p:spPr>
        <p:txBody>
          <a:bodyPr wrap="square" rtlCol="0">
            <a:spAutoFit/>
          </a:bodyPr>
          <a:lstStyle/>
          <a:p>
            <a:r>
              <a:rPr lang="en-IN" sz="1600" b="1" dirty="0">
                <a:latin typeface="Cambria" panose="02040503050406030204" pitchFamily="18" charset="0"/>
                <a:ea typeface="Cambria" panose="02040503050406030204" pitchFamily="18" charset="0"/>
              </a:rPr>
              <a:t>-- Equation (5)</a:t>
            </a:r>
          </a:p>
        </p:txBody>
      </p:sp>
      <p:sp>
        <p:nvSpPr>
          <p:cNvPr id="9" name="TextBox 8">
            <a:extLst>
              <a:ext uri="{FF2B5EF4-FFF2-40B4-BE49-F238E27FC236}">
                <a16:creationId xmlns:a16="http://schemas.microsoft.com/office/drawing/2014/main" id="{F4953DA2-451F-38BB-17B2-EDAB81546336}"/>
              </a:ext>
            </a:extLst>
          </p:cNvPr>
          <p:cNvSpPr txBox="1"/>
          <p:nvPr/>
        </p:nvSpPr>
        <p:spPr>
          <a:xfrm>
            <a:off x="5233351" y="3834417"/>
            <a:ext cx="2875280" cy="338554"/>
          </a:xfrm>
          <a:prstGeom prst="rect">
            <a:avLst/>
          </a:prstGeom>
          <a:noFill/>
        </p:spPr>
        <p:txBody>
          <a:bodyPr wrap="square" rtlCol="0">
            <a:spAutoFit/>
          </a:bodyPr>
          <a:lstStyle/>
          <a:p>
            <a:r>
              <a:rPr lang="en-IN" sz="1600" b="1" dirty="0">
                <a:latin typeface="Cambria" panose="02040503050406030204" pitchFamily="18" charset="0"/>
                <a:ea typeface="Cambria" panose="02040503050406030204" pitchFamily="18" charset="0"/>
              </a:rPr>
              <a:t>-- Equation (7)</a:t>
            </a:r>
          </a:p>
        </p:txBody>
      </p:sp>
      <p:sp>
        <p:nvSpPr>
          <p:cNvPr id="14" name="TextBox 13">
            <a:extLst>
              <a:ext uri="{FF2B5EF4-FFF2-40B4-BE49-F238E27FC236}">
                <a16:creationId xmlns:a16="http://schemas.microsoft.com/office/drawing/2014/main" id="{8F276330-5CF4-4A1B-1933-61D683A6F1C2}"/>
              </a:ext>
            </a:extLst>
          </p:cNvPr>
          <p:cNvSpPr txBox="1"/>
          <p:nvPr/>
        </p:nvSpPr>
        <p:spPr>
          <a:xfrm>
            <a:off x="5233351" y="2989311"/>
            <a:ext cx="2875280" cy="338554"/>
          </a:xfrm>
          <a:prstGeom prst="rect">
            <a:avLst/>
          </a:prstGeom>
          <a:noFill/>
        </p:spPr>
        <p:txBody>
          <a:bodyPr wrap="square" rtlCol="0">
            <a:spAutoFit/>
          </a:bodyPr>
          <a:lstStyle/>
          <a:p>
            <a:r>
              <a:rPr lang="en-IN" sz="1600" b="1" dirty="0">
                <a:latin typeface="Cambria" panose="02040503050406030204" pitchFamily="18" charset="0"/>
                <a:ea typeface="Cambria" panose="02040503050406030204" pitchFamily="18" charset="0"/>
              </a:rPr>
              <a:t>-- Equation (6)</a:t>
            </a:r>
          </a:p>
        </p:txBody>
      </p:sp>
    </p:spTree>
    <p:extLst>
      <p:ext uri="{BB962C8B-B14F-4D97-AF65-F5344CB8AC3E}">
        <p14:creationId xmlns:p14="http://schemas.microsoft.com/office/powerpoint/2010/main" val="716021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403680" y="1211669"/>
            <a:ext cx="9000000" cy="646331"/>
          </a:xfrm>
          <a:prstGeom prst="rect">
            <a:avLst/>
          </a:prstGeom>
        </p:spPr>
        <p:txBody>
          <a:bodyPr wrap="square">
            <a:spAutoFit/>
          </a:bodyPr>
          <a:lstStyle/>
          <a:p>
            <a:pPr algn="l"/>
            <a:r>
              <a:rPr lang="en-IN" altLang="en-US" sz="3600" b="1" dirty="0" err="1">
                <a:solidFill>
                  <a:schemeClr val="accent1">
                    <a:lumMod val="75000"/>
                  </a:schemeClr>
                </a:solidFill>
                <a:latin typeface="Cambria" pitchFamily="18" charset="0"/>
              </a:rPr>
              <a:t>Gatekeeperx</a:t>
            </a:r>
            <a:r>
              <a:rPr lang="en-IN" altLang="en-US" sz="3600" b="1" dirty="0">
                <a:solidFill>
                  <a:schemeClr val="accent1">
                    <a:lumMod val="75000"/>
                  </a:schemeClr>
                </a:solidFill>
                <a:latin typeface="Cambria" pitchFamily="18" charset="0"/>
              </a:rPr>
              <a:t> Architecture</a:t>
            </a:r>
          </a:p>
        </p:txBody>
      </p:sp>
      <p:sp>
        <p:nvSpPr>
          <p:cNvPr id="3" name="Box3"/>
          <p:cNvSpPr/>
          <p:nvPr/>
        </p:nvSpPr>
        <p:spPr>
          <a:xfrm>
            <a:off x="450000" y="2650000"/>
            <a:ext cx="1921765" cy="2000000"/>
          </a:xfrm>
          <a:prstGeom prst="roundRect">
            <a:avLst>
              <a:gd name="adj" fmla="val 8000"/>
            </a:avLst>
          </a:prstGeom>
          <a:solidFill>
            <a:srgbClr val="4472C4"/>
          </a:solidFill>
          <a:ln>
            <a:noFill/>
          </a:ln>
          <a:effectLst>
            <a:outerShdw blurRad="50800" dist="25400" dir="5400000" rotWithShape="0">
              <a:srgbClr val="000000">
                <a:alpha val="25000"/>
              </a:srgbClr>
            </a:outerShdw>
          </a:effectLst>
        </p:spPr>
        <p:txBody>
          <a:bodyPr wrap="square" lIns="91440" rIns="91440" anchor="ctr">
            <a:normAutofit lnSpcReduction="10000"/>
          </a:bodyPr>
          <a:lstStyle/>
          <a:p>
            <a:pPr algn="ctr"/>
            <a:r>
              <a:rPr lang="en-US" sz="3200" b="1" dirty="0">
                <a:solidFill>
                  <a:schemeClr val="bg1"/>
                </a:solidFill>
                <a:latin typeface="Cambria" pitchFamily="18" charset="0"/>
              </a:rPr>
              <a:t>Job Arrival</a:t>
            </a:r>
          </a:p>
          <a:p>
            <a:pPr algn="ctr"/>
            <a:r>
              <a:rPr lang="en-US" sz="2000" dirty="0">
                <a:solidFill>
                  <a:schemeClr val="bg1"/>
                </a:solidFill>
                <a:latin typeface="Cambria" pitchFamily="18" charset="0"/>
              </a:rPr>
              <a:t>Poisson process</a:t>
            </a:r>
          </a:p>
          <a:p>
            <a:pPr algn="ctr"/>
            <a:r>
              <a:rPr lang="en-US" sz="2000" dirty="0">
                <a:solidFill>
                  <a:schemeClr val="bg1"/>
                </a:solidFill>
                <a:latin typeface="Cambria" pitchFamily="18" charset="0"/>
              </a:rPr>
              <a:t>rate = 2 (Exp)</a:t>
            </a:r>
          </a:p>
        </p:txBody>
      </p:sp>
      <p:sp>
        <p:nvSpPr>
          <p:cNvPr id="4" name="Arrow4"/>
          <p:cNvSpPr/>
          <p:nvPr/>
        </p:nvSpPr>
        <p:spPr>
          <a:xfrm>
            <a:off x="2371765" y="3500000"/>
            <a:ext cx="420000" cy="300000"/>
          </a:xfrm>
          <a:prstGeom prst="rightArrow">
            <a:avLst/>
          </a:prstGeom>
          <a:solidFill>
            <a:schemeClr val="accent1">
              <a:lumMod val="60000"/>
            </a:schemeClr>
          </a:solidFill>
          <a:ln>
            <a:noFill/>
          </a:ln>
        </p:spPr>
        <p:txBody>
          <a:bodyPr/>
          <a:lstStyle/>
          <a:p>
            <a:endParaRPr/>
          </a:p>
        </p:txBody>
      </p:sp>
      <p:sp>
        <p:nvSpPr>
          <p:cNvPr id="5" name="Box5"/>
          <p:cNvSpPr/>
          <p:nvPr/>
        </p:nvSpPr>
        <p:spPr>
          <a:xfrm>
            <a:off x="2791765" y="2650000"/>
            <a:ext cx="1921765" cy="2000000"/>
          </a:xfrm>
          <a:prstGeom prst="roundRect">
            <a:avLst>
              <a:gd name="adj" fmla="val 8000"/>
            </a:avLst>
          </a:prstGeom>
          <a:solidFill>
            <a:srgbClr val="548235"/>
          </a:solidFill>
          <a:ln>
            <a:noFill/>
          </a:ln>
          <a:effectLst>
            <a:outerShdw blurRad="50800" dist="25400" dir="5400000" rotWithShape="0">
              <a:srgbClr val="000000">
                <a:alpha val="25000"/>
              </a:srgbClr>
            </a:outerShdw>
          </a:effectLst>
        </p:spPr>
        <p:txBody>
          <a:bodyPr wrap="square" lIns="91440" rIns="91440" anchor="ctr">
            <a:normAutofit/>
          </a:bodyPr>
          <a:lstStyle/>
          <a:p>
            <a:pPr algn="ctr"/>
            <a:r>
              <a:rPr lang="en-US" sz="2400" b="1" dirty="0">
                <a:solidFill>
                  <a:schemeClr val="bg1"/>
                </a:solidFill>
                <a:latin typeface="Cambria" pitchFamily="18" charset="0"/>
              </a:rPr>
              <a:t>SAST Gate</a:t>
            </a:r>
          </a:p>
          <a:p>
            <a:pPr algn="ctr"/>
            <a:r>
              <a:rPr lang="en-US" sz="2400" dirty="0">
                <a:solidFill>
                  <a:schemeClr val="bg1"/>
                </a:solidFill>
                <a:latin typeface="Cambria" pitchFamily="18" charset="0"/>
              </a:rPr>
              <a:t>capacity = 1</a:t>
            </a:r>
          </a:p>
          <a:p>
            <a:pPr algn="ctr"/>
            <a:r>
              <a:rPr lang="en-US" sz="2400" dirty="0">
                <a:solidFill>
                  <a:schemeClr val="bg1"/>
                </a:solidFill>
                <a:latin typeface="Cambria" pitchFamily="18" charset="0"/>
              </a:rPr>
              <a:t>service ~ Exp(rate=3)</a:t>
            </a:r>
          </a:p>
        </p:txBody>
      </p:sp>
      <p:sp>
        <p:nvSpPr>
          <p:cNvPr id="6" name="Arrow6"/>
          <p:cNvSpPr/>
          <p:nvPr/>
        </p:nvSpPr>
        <p:spPr>
          <a:xfrm>
            <a:off x="4713530" y="3500000"/>
            <a:ext cx="420000" cy="300000"/>
          </a:xfrm>
          <a:prstGeom prst="rightArrow">
            <a:avLst/>
          </a:prstGeom>
          <a:solidFill>
            <a:schemeClr val="accent1">
              <a:lumMod val="60000"/>
            </a:schemeClr>
          </a:solidFill>
          <a:ln>
            <a:noFill/>
          </a:ln>
        </p:spPr>
        <p:txBody>
          <a:bodyPr/>
          <a:lstStyle/>
          <a:p>
            <a:endParaRPr/>
          </a:p>
        </p:txBody>
      </p:sp>
      <p:sp>
        <p:nvSpPr>
          <p:cNvPr id="7" name="Box7"/>
          <p:cNvSpPr/>
          <p:nvPr/>
        </p:nvSpPr>
        <p:spPr>
          <a:xfrm>
            <a:off x="5133530" y="2650000"/>
            <a:ext cx="1921765" cy="2000000"/>
          </a:xfrm>
          <a:prstGeom prst="roundRect">
            <a:avLst>
              <a:gd name="adj" fmla="val 8000"/>
            </a:avLst>
          </a:prstGeom>
          <a:solidFill>
            <a:srgbClr val="BF8F00"/>
          </a:solidFill>
          <a:ln>
            <a:noFill/>
          </a:ln>
          <a:effectLst>
            <a:outerShdw blurRad="50800" dist="25400" dir="5400000" rotWithShape="0">
              <a:srgbClr val="000000">
                <a:alpha val="25000"/>
              </a:srgbClr>
            </a:outerShdw>
          </a:effectLst>
        </p:spPr>
        <p:txBody>
          <a:bodyPr wrap="square" lIns="91440" rIns="91440" anchor="ctr">
            <a:noAutofit/>
          </a:bodyPr>
          <a:lstStyle/>
          <a:p>
            <a:pPr algn="ctr"/>
            <a:r>
              <a:rPr lang="en-US" sz="2000" b="1" dirty="0">
                <a:solidFill>
                  <a:schemeClr val="bg1"/>
                </a:solidFill>
                <a:latin typeface="Cambria" pitchFamily="18" charset="0"/>
              </a:rPr>
              <a:t>Dependency Gate</a:t>
            </a:r>
          </a:p>
          <a:p>
            <a:pPr algn="ctr"/>
            <a:r>
              <a:rPr lang="en-US" sz="2000" dirty="0">
                <a:solidFill>
                  <a:schemeClr val="bg1"/>
                </a:solidFill>
                <a:latin typeface="Cambria" pitchFamily="18" charset="0"/>
              </a:rPr>
              <a:t>capacity = 1</a:t>
            </a:r>
          </a:p>
          <a:p>
            <a:pPr algn="ctr"/>
            <a:r>
              <a:rPr lang="en-US" sz="2000" dirty="0">
                <a:solidFill>
                  <a:schemeClr val="bg1"/>
                </a:solidFill>
                <a:latin typeface="Cambria" pitchFamily="18" charset="0"/>
              </a:rPr>
              <a:t>service ~ Exp(rate=2.5)</a:t>
            </a:r>
          </a:p>
        </p:txBody>
      </p:sp>
      <p:sp>
        <p:nvSpPr>
          <p:cNvPr id="8" name="Arrow8"/>
          <p:cNvSpPr/>
          <p:nvPr/>
        </p:nvSpPr>
        <p:spPr>
          <a:xfrm>
            <a:off x="7055295" y="3500000"/>
            <a:ext cx="420000" cy="300000"/>
          </a:xfrm>
          <a:prstGeom prst="rightArrow">
            <a:avLst/>
          </a:prstGeom>
          <a:solidFill>
            <a:schemeClr val="accent1">
              <a:lumMod val="60000"/>
            </a:schemeClr>
          </a:solidFill>
          <a:ln>
            <a:noFill/>
          </a:ln>
        </p:spPr>
        <p:txBody>
          <a:bodyPr/>
          <a:lstStyle/>
          <a:p>
            <a:endParaRPr/>
          </a:p>
        </p:txBody>
      </p:sp>
      <p:sp>
        <p:nvSpPr>
          <p:cNvPr id="9" name="Box9"/>
          <p:cNvSpPr/>
          <p:nvPr/>
        </p:nvSpPr>
        <p:spPr>
          <a:xfrm>
            <a:off x="7475295" y="2650000"/>
            <a:ext cx="1921765" cy="2000000"/>
          </a:xfrm>
          <a:prstGeom prst="roundRect">
            <a:avLst>
              <a:gd name="adj" fmla="val 8000"/>
            </a:avLst>
          </a:prstGeom>
          <a:solidFill>
            <a:srgbClr val="C00000"/>
          </a:solidFill>
          <a:ln>
            <a:noFill/>
          </a:ln>
          <a:effectLst>
            <a:outerShdw blurRad="50800" dist="25400" dir="5400000" rotWithShape="0">
              <a:srgbClr val="000000">
                <a:alpha val="25000"/>
              </a:srgbClr>
            </a:outerShdw>
          </a:effectLst>
        </p:spPr>
        <p:txBody>
          <a:bodyPr wrap="square" lIns="91440" rIns="91440" anchor="ctr">
            <a:normAutofit/>
          </a:bodyPr>
          <a:lstStyle/>
          <a:p>
            <a:pPr algn="ctr"/>
            <a:r>
              <a:rPr lang="en-US" sz="2400" b="1" dirty="0">
                <a:solidFill>
                  <a:schemeClr val="bg1"/>
                </a:solidFill>
                <a:latin typeface="Cambria" pitchFamily="18" charset="0"/>
              </a:rPr>
              <a:t>DAST Gate</a:t>
            </a:r>
          </a:p>
          <a:p>
            <a:pPr algn="ctr"/>
            <a:r>
              <a:rPr lang="en-US" sz="1600" dirty="0">
                <a:solidFill>
                  <a:schemeClr val="bg1"/>
                </a:solidFill>
                <a:latin typeface="Cambria" pitchFamily="18" charset="0"/>
              </a:rPr>
              <a:t>capacity = 1</a:t>
            </a:r>
          </a:p>
          <a:p>
            <a:pPr algn="ctr"/>
            <a:r>
              <a:rPr lang="en-US" sz="1600" dirty="0">
                <a:solidFill>
                  <a:schemeClr val="bg1"/>
                </a:solidFill>
                <a:latin typeface="Cambria" pitchFamily="18" charset="0"/>
              </a:rPr>
              <a:t>service ~ Exp(rate=2)</a:t>
            </a:r>
          </a:p>
        </p:txBody>
      </p:sp>
      <p:sp>
        <p:nvSpPr>
          <p:cNvPr id="10" name="Arrow10"/>
          <p:cNvSpPr/>
          <p:nvPr/>
        </p:nvSpPr>
        <p:spPr>
          <a:xfrm>
            <a:off x="9397060" y="3500000"/>
            <a:ext cx="420000" cy="300000"/>
          </a:xfrm>
          <a:prstGeom prst="rightArrow">
            <a:avLst/>
          </a:prstGeom>
          <a:solidFill>
            <a:schemeClr val="accent1">
              <a:lumMod val="60000"/>
            </a:schemeClr>
          </a:solidFill>
          <a:ln>
            <a:noFill/>
          </a:ln>
        </p:spPr>
        <p:txBody>
          <a:bodyPr/>
          <a:lstStyle/>
          <a:p>
            <a:endParaRPr/>
          </a:p>
        </p:txBody>
      </p:sp>
      <p:sp>
        <p:nvSpPr>
          <p:cNvPr id="11" name="Box11"/>
          <p:cNvSpPr/>
          <p:nvPr/>
        </p:nvSpPr>
        <p:spPr>
          <a:xfrm>
            <a:off x="9817060" y="2650000"/>
            <a:ext cx="1921765" cy="2000000"/>
          </a:xfrm>
          <a:prstGeom prst="roundRect">
            <a:avLst>
              <a:gd name="adj" fmla="val 8000"/>
            </a:avLst>
          </a:prstGeom>
          <a:solidFill>
            <a:srgbClr val="7030A0"/>
          </a:solidFill>
          <a:ln>
            <a:noFill/>
          </a:ln>
          <a:effectLst>
            <a:outerShdw blurRad="50800" dist="25400" dir="5400000" rotWithShape="0">
              <a:srgbClr val="000000">
                <a:alpha val="25000"/>
              </a:srgbClr>
            </a:outerShdw>
          </a:effectLst>
        </p:spPr>
        <p:txBody>
          <a:bodyPr wrap="square" lIns="91440" rIns="91440" anchor="ctr">
            <a:normAutofit/>
          </a:bodyPr>
          <a:lstStyle/>
          <a:p>
            <a:pPr algn="ctr"/>
            <a:r>
              <a:rPr lang="en-US" sz="2000" b="1" dirty="0">
                <a:solidFill>
                  <a:schemeClr val="bg1"/>
                </a:solidFill>
                <a:latin typeface="Cambria" pitchFamily="18" charset="0"/>
              </a:rPr>
              <a:t>Deployment</a:t>
            </a:r>
          </a:p>
          <a:p>
            <a:pPr algn="ctr"/>
            <a:r>
              <a:rPr lang="en-US" sz="1400" dirty="0">
                <a:solidFill>
                  <a:schemeClr val="bg1"/>
                </a:solidFill>
                <a:latin typeface="Cambria" pitchFamily="18" charset="0"/>
              </a:rPr>
              <a:t>Build exits</a:t>
            </a:r>
          </a:p>
          <a:p>
            <a:pPr algn="ctr"/>
            <a:r>
              <a:rPr lang="en-US" sz="1400" dirty="0">
                <a:solidFill>
                  <a:schemeClr val="bg1"/>
                </a:solidFill>
                <a:latin typeface="Cambria" pitchFamily="18" charset="0"/>
              </a:rPr>
              <a:t>the pipeline</a:t>
            </a:r>
          </a:p>
        </p:txBody>
      </p:sp>
      <p:sp>
        <p:nvSpPr>
          <p:cNvPr id="12" name="Caption12"/>
          <p:cNvSpPr txBox="1"/>
          <p:nvPr/>
        </p:nvSpPr>
        <p:spPr>
          <a:xfrm>
            <a:off x="449999" y="5092000"/>
            <a:ext cx="11288825" cy="1200000"/>
          </a:xfrm>
          <a:prstGeom prst="rect">
            <a:avLst/>
          </a:prstGeom>
          <a:noFill/>
        </p:spPr>
        <p:txBody>
          <a:bodyPr wrap="square" rtlCol="0">
            <a:noAutofit/>
          </a:bodyPr>
          <a:lstStyle/>
          <a:p>
            <a:pPr algn="ctr"/>
            <a:r>
              <a:rPr lang="en-US" sz="2400" i="1" dirty="0">
                <a:latin typeface="Cambria" pitchFamily="18" charset="0"/>
              </a:rPr>
              <a:t>Simulated in R with simmer (env “GatekeeperX”) for 500 time units; get_mon_arrivals() and get_mon_resources() capture waiting time, system time, queue length, and utilization per gate.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BF04F-A5B6-192E-770A-86CE794C4D63}"/>
              </a:ext>
            </a:extLst>
          </p:cNvPr>
          <p:cNvSpPr>
            <a:spLocks noGrp="1"/>
          </p:cNvSpPr>
          <p:nvPr>
            <p:ph type="title"/>
          </p:nvPr>
        </p:nvSpPr>
        <p:spPr>
          <a:xfrm>
            <a:off x="3937644" y="1072353"/>
            <a:ext cx="5043795" cy="660083"/>
          </a:xfrm>
        </p:spPr>
        <p:txBody>
          <a:bodyPr>
            <a:normAutofit fontScale="90000"/>
          </a:bodyPr>
          <a:lstStyle/>
          <a:p>
            <a:r>
              <a:rPr lang="en-IN" b="1" dirty="0">
                <a:solidFill>
                  <a:schemeClr val="accent1">
                    <a:lumMod val="75000"/>
                  </a:schemeClr>
                </a:solidFill>
                <a:latin typeface="Cambria" panose="02040503050406030204" pitchFamily="18" charset="0"/>
                <a:ea typeface="Cambria" panose="02040503050406030204" pitchFamily="18" charset="0"/>
              </a:rPr>
              <a:t>Simulation Results</a:t>
            </a:r>
          </a:p>
        </p:txBody>
      </p:sp>
      <p:sp>
        <p:nvSpPr>
          <p:cNvPr id="4" name="Title 1">
            <a:extLst>
              <a:ext uri="{FF2B5EF4-FFF2-40B4-BE49-F238E27FC236}">
                <a16:creationId xmlns:a16="http://schemas.microsoft.com/office/drawing/2014/main" id="{F8A6F397-CABF-F0D2-493D-D6D251AF6491}"/>
              </a:ext>
            </a:extLst>
          </p:cNvPr>
          <p:cNvSpPr txBox="1">
            <a:spLocks/>
          </p:cNvSpPr>
          <p:nvPr/>
        </p:nvSpPr>
        <p:spPr>
          <a:xfrm>
            <a:off x="91780" y="1660359"/>
            <a:ext cx="4313534" cy="660083"/>
          </a:xfrm>
          <a:prstGeom prst="rect">
            <a:avLst/>
          </a:prstGeom>
        </p:spPr>
        <p:txBody>
          <a:bodyPr vert="horz" lIns="91440" tIns="45720" rIns="91440" bIns="45720" rtlCol="0" anchor="ct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Cambria" panose="02040503050406030204" pitchFamily="18" charset="0"/>
                <a:ea typeface="Cambria" panose="02040503050406030204" pitchFamily="18" charset="0"/>
              </a:rPr>
              <a:t> sample iteration records</a:t>
            </a:r>
          </a:p>
        </p:txBody>
      </p:sp>
      <p:graphicFrame>
        <p:nvGraphicFramePr>
          <p:cNvPr id="5" name="Table 4">
            <a:extLst>
              <a:ext uri="{FF2B5EF4-FFF2-40B4-BE49-F238E27FC236}">
                <a16:creationId xmlns:a16="http://schemas.microsoft.com/office/drawing/2014/main" id="{BC6763BC-57D1-B0AC-D585-650A48F98A02}"/>
              </a:ext>
            </a:extLst>
          </p:cNvPr>
          <p:cNvGraphicFramePr>
            <a:graphicFrameLocks noGrp="1"/>
          </p:cNvGraphicFramePr>
          <p:nvPr>
            <p:extLst>
              <p:ext uri="{D42A27DB-BD31-4B8C-83A1-F6EECF244321}">
                <p14:modId xmlns:p14="http://schemas.microsoft.com/office/powerpoint/2010/main" val="1269889664"/>
              </p:ext>
            </p:extLst>
          </p:nvPr>
        </p:nvGraphicFramePr>
        <p:xfrm>
          <a:off x="0" y="2243430"/>
          <a:ext cx="6094411" cy="3225799"/>
        </p:xfrm>
        <a:graphic>
          <a:graphicData uri="http://schemas.openxmlformats.org/drawingml/2006/table">
            <a:tbl>
              <a:tblPr firstRow="1" bandRow="1">
                <a:tableStyleId>{5C22544A-7EE6-4342-B048-85BDC9FD1C3A}</a:tableStyleId>
              </a:tblPr>
              <a:tblGrid>
                <a:gridCol w="955040">
                  <a:extLst>
                    <a:ext uri="{9D8B030D-6E8A-4147-A177-3AD203B41FA5}">
                      <a16:colId xmlns:a16="http://schemas.microsoft.com/office/drawing/2014/main" val="861584069"/>
                    </a:ext>
                  </a:extLst>
                </a:gridCol>
                <a:gridCol w="640127">
                  <a:extLst>
                    <a:ext uri="{9D8B030D-6E8A-4147-A177-3AD203B41FA5}">
                      <a16:colId xmlns:a16="http://schemas.microsoft.com/office/drawing/2014/main" val="1973831092"/>
                    </a:ext>
                  </a:extLst>
                </a:gridCol>
                <a:gridCol w="889214">
                  <a:extLst>
                    <a:ext uri="{9D8B030D-6E8A-4147-A177-3AD203B41FA5}">
                      <a16:colId xmlns:a16="http://schemas.microsoft.com/office/drawing/2014/main" val="2225863249"/>
                    </a:ext>
                  </a:extLst>
                </a:gridCol>
                <a:gridCol w="990339">
                  <a:extLst>
                    <a:ext uri="{9D8B030D-6E8A-4147-A177-3AD203B41FA5}">
                      <a16:colId xmlns:a16="http://schemas.microsoft.com/office/drawing/2014/main" val="3661392139"/>
                    </a:ext>
                  </a:extLst>
                </a:gridCol>
                <a:gridCol w="1330960">
                  <a:extLst>
                    <a:ext uri="{9D8B030D-6E8A-4147-A177-3AD203B41FA5}">
                      <a16:colId xmlns:a16="http://schemas.microsoft.com/office/drawing/2014/main" val="330029880"/>
                    </a:ext>
                  </a:extLst>
                </a:gridCol>
                <a:gridCol w="1288731">
                  <a:extLst>
                    <a:ext uri="{9D8B030D-6E8A-4147-A177-3AD203B41FA5}">
                      <a16:colId xmlns:a16="http://schemas.microsoft.com/office/drawing/2014/main" val="353753653"/>
                    </a:ext>
                  </a:extLst>
                </a:gridCol>
              </a:tblGrid>
              <a:tr h="716844">
                <a:tc>
                  <a:txBody>
                    <a:bodyPr/>
                    <a:lstStyle/>
                    <a:p>
                      <a:pPr algn="ctr"/>
                      <a:r>
                        <a:rPr lang="en-IN" sz="1400" dirty="0">
                          <a:latin typeface="Cambria" panose="02040503050406030204" pitchFamily="18" charset="0"/>
                          <a:ea typeface="Cambria" panose="02040503050406030204" pitchFamily="18" charset="0"/>
                        </a:rPr>
                        <a:t>Iteration </a:t>
                      </a:r>
                    </a:p>
                    <a:p>
                      <a:pPr algn="ctr"/>
                      <a:r>
                        <a:rPr lang="en-IN" sz="1400" dirty="0">
                          <a:latin typeface="Cambria" panose="02040503050406030204" pitchFamily="18" charset="0"/>
                          <a:ea typeface="Cambria" panose="02040503050406030204" pitchFamily="18" charset="0"/>
                        </a:rPr>
                        <a:t>/Job</a:t>
                      </a:r>
                    </a:p>
                  </a:txBody>
                  <a:tcPr/>
                </a:tc>
                <a:tc>
                  <a:txBody>
                    <a:bodyPr/>
                    <a:lstStyle/>
                    <a:p>
                      <a:pPr algn="ctr"/>
                      <a:r>
                        <a:rPr lang="en-IN" sz="1400" dirty="0">
                          <a:latin typeface="Cambria" panose="02040503050406030204" pitchFamily="18" charset="0"/>
                          <a:ea typeface="Cambria" panose="02040503050406030204" pitchFamily="18" charset="0"/>
                        </a:rPr>
                        <a:t>Job Id </a:t>
                      </a:r>
                    </a:p>
                  </a:txBody>
                  <a:tcPr/>
                </a:tc>
                <a:tc>
                  <a:txBody>
                    <a:bodyPr/>
                    <a:lstStyle/>
                    <a:p>
                      <a:pPr algn="ctr"/>
                      <a:r>
                        <a:rPr lang="en-IN" sz="1400" dirty="0">
                          <a:latin typeface="Cambria" panose="02040503050406030204" pitchFamily="18" charset="0"/>
                          <a:ea typeface="Cambria" panose="02040503050406030204" pitchFamily="18" charset="0"/>
                        </a:rPr>
                        <a:t>Priority Class</a:t>
                      </a:r>
                    </a:p>
                  </a:txBody>
                  <a:tcPr/>
                </a:tc>
                <a:tc>
                  <a:txBody>
                    <a:bodyPr/>
                    <a:lstStyle/>
                    <a:p>
                      <a:pPr algn="ctr"/>
                      <a:r>
                        <a:rPr lang="en-IN" sz="1400" dirty="0">
                          <a:latin typeface="Cambria" panose="02040503050406030204" pitchFamily="18" charset="0"/>
                          <a:ea typeface="Cambria" panose="02040503050406030204" pitchFamily="18" charset="0"/>
                        </a:rPr>
                        <a:t>Waiting Time </a:t>
                      </a:r>
                    </a:p>
                  </a:txBody>
                  <a:tcPr/>
                </a:tc>
                <a:tc>
                  <a:txBody>
                    <a:bodyPr/>
                    <a:lstStyle/>
                    <a:p>
                      <a:pPr algn="ctr"/>
                      <a:r>
                        <a:rPr lang="en-IN" sz="1400" dirty="0">
                          <a:latin typeface="Cambria" panose="02040503050406030204" pitchFamily="18" charset="0"/>
                          <a:ea typeface="Cambria" panose="02040503050406030204" pitchFamily="18" charset="0"/>
                        </a:rPr>
                        <a:t>Turnaround Time </a:t>
                      </a:r>
                    </a:p>
                  </a:txBody>
                  <a:tcPr/>
                </a:tc>
                <a:tc>
                  <a:txBody>
                    <a:bodyPr/>
                    <a:lstStyle/>
                    <a:p>
                      <a:pPr algn="ctr"/>
                      <a:r>
                        <a:rPr lang="en-IN" sz="1400" dirty="0">
                          <a:latin typeface="Cambria" panose="02040503050406030204" pitchFamily="18" charset="0"/>
                          <a:ea typeface="Cambria" panose="02040503050406030204" pitchFamily="18" charset="0"/>
                        </a:rPr>
                        <a:t>Status</a:t>
                      </a:r>
                    </a:p>
                  </a:txBody>
                  <a:tcPr/>
                </a:tc>
                <a:extLst>
                  <a:ext uri="{0D108BD9-81ED-4DB2-BD59-A6C34878D82A}">
                    <a16:rowId xmlns:a16="http://schemas.microsoft.com/office/drawing/2014/main" val="2756410101"/>
                  </a:ext>
                </a:extLst>
              </a:tr>
              <a:tr h="501791">
                <a:tc>
                  <a:txBody>
                    <a:bodyPr/>
                    <a:lstStyle/>
                    <a:p>
                      <a:pPr algn="ctr"/>
                      <a:r>
                        <a:rPr lang="en-IN" sz="1400" dirty="0">
                          <a:latin typeface="Cambria" panose="02040503050406030204" pitchFamily="18" charset="0"/>
                          <a:ea typeface="Cambria" panose="02040503050406030204" pitchFamily="18" charset="0"/>
                        </a:rPr>
                        <a:t>1</a:t>
                      </a:r>
                    </a:p>
                  </a:txBody>
                  <a:tcPr/>
                </a:tc>
                <a:tc>
                  <a:txBody>
                    <a:bodyPr/>
                    <a:lstStyle/>
                    <a:p>
                      <a:pPr algn="ctr"/>
                      <a:r>
                        <a:rPr lang="en-IN" sz="1400" dirty="0">
                          <a:latin typeface="Cambria" panose="02040503050406030204" pitchFamily="18" charset="0"/>
                          <a:ea typeface="Cambria" panose="02040503050406030204" pitchFamily="18" charset="0"/>
                        </a:rPr>
                        <a:t>1</a:t>
                      </a:r>
                    </a:p>
                  </a:txBody>
                  <a:tcPr/>
                </a:tc>
                <a:tc>
                  <a:txBody>
                    <a:bodyPr/>
                    <a:lstStyle/>
                    <a:p>
                      <a:pPr algn="ctr"/>
                      <a:r>
                        <a:rPr lang="en-IN" sz="1400" dirty="0">
                          <a:latin typeface="Cambria" panose="02040503050406030204" pitchFamily="18" charset="0"/>
                          <a:ea typeface="Cambria" panose="02040503050406030204" pitchFamily="18" charset="0"/>
                        </a:rPr>
                        <a:t>P2 - High</a:t>
                      </a:r>
                    </a:p>
                  </a:txBody>
                  <a:tcPr/>
                </a:tc>
                <a:tc>
                  <a:txBody>
                    <a:bodyPr/>
                    <a:lstStyle/>
                    <a:p>
                      <a:pPr algn="ctr"/>
                      <a:r>
                        <a:rPr lang="en-IN" sz="1400" dirty="0">
                          <a:latin typeface="Cambria" panose="02040503050406030204" pitchFamily="18" charset="0"/>
                          <a:ea typeface="Cambria" panose="02040503050406030204" pitchFamily="18" charset="0"/>
                        </a:rPr>
                        <a:t>0.00</a:t>
                      </a:r>
                    </a:p>
                  </a:txBody>
                  <a:tcPr/>
                </a:tc>
                <a:tc>
                  <a:txBody>
                    <a:bodyPr/>
                    <a:lstStyle/>
                    <a:p>
                      <a:pPr algn="ctr"/>
                      <a:r>
                        <a:rPr lang="en-IN" sz="1400" dirty="0">
                          <a:latin typeface="Cambria" panose="02040503050406030204" pitchFamily="18" charset="0"/>
                          <a:ea typeface="Cambria" panose="02040503050406030204" pitchFamily="18" charset="0"/>
                        </a:rPr>
                        <a:t>5.61</a:t>
                      </a:r>
                    </a:p>
                  </a:txBody>
                  <a:tcPr/>
                </a:tc>
                <a:tc>
                  <a:txBody>
                    <a:bodyPr/>
                    <a:lstStyle/>
                    <a:p>
                      <a:pPr algn="ctr"/>
                      <a:r>
                        <a:rPr lang="en-IN" sz="1400" dirty="0">
                          <a:latin typeface="Cambria" panose="02040503050406030204" pitchFamily="18" charset="0"/>
                          <a:ea typeface="Cambria" panose="02040503050406030204" pitchFamily="18" charset="0"/>
                        </a:rPr>
                        <a:t>Completed</a:t>
                      </a:r>
                    </a:p>
                  </a:txBody>
                  <a:tcPr/>
                </a:tc>
                <a:extLst>
                  <a:ext uri="{0D108BD9-81ED-4DB2-BD59-A6C34878D82A}">
                    <a16:rowId xmlns:a16="http://schemas.microsoft.com/office/drawing/2014/main" val="23398334"/>
                  </a:ext>
                </a:extLst>
              </a:tr>
              <a:tr h="501791">
                <a:tc>
                  <a:txBody>
                    <a:bodyPr/>
                    <a:lstStyle/>
                    <a:p>
                      <a:pPr algn="ctr"/>
                      <a:r>
                        <a:rPr lang="en-IN" sz="1400" dirty="0">
                          <a:latin typeface="Cambria" panose="02040503050406030204" pitchFamily="18" charset="0"/>
                          <a:ea typeface="Cambria" panose="02040503050406030204" pitchFamily="18" charset="0"/>
                        </a:rPr>
                        <a:t>2</a:t>
                      </a:r>
                    </a:p>
                  </a:txBody>
                  <a:tcPr/>
                </a:tc>
                <a:tc>
                  <a:txBody>
                    <a:bodyPr/>
                    <a:lstStyle/>
                    <a:p>
                      <a:pPr algn="ctr"/>
                      <a:r>
                        <a:rPr lang="en-IN" sz="1400" dirty="0">
                          <a:latin typeface="Cambria" panose="02040503050406030204" pitchFamily="18" charset="0"/>
                          <a:ea typeface="Cambria" panose="02040503050406030204" pitchFamily="18" charset="0"/>
                        </a:rPr>
                        <a:t>2</a:t>
                      </a:r>
                    </a:p>
                  </a:txBody>
                  <a:tcPr/>
                </a:tc>
                <a:tc>
                  <a:txBody>
                    <a:bodyPr/>
                    <a:lstStyle/>
                    <a:p>
                      <a:pPr algn="ctr"/>
                      <a:r>
                        <a:rPr lang="en-IN" sz="1400" dirty="0">
                          <a:latin typeface="Cambria" panose="02040503050406030204" pitchFamily="18" charset="0"/>
                          <a:ea typeface="Cambria" panose="02040503050406030204" pitchFamily="18" charset="0"/>
                        </a:rPr>
                        <a:t>P4 - Low</a:t>
                      </a:r>
                    </a:p>
                  </a:txBody>
                  <a:tcPr/>
                </a:tc>
                <a:tc>
                  <a:txBody>
                    <a:bodyPr/>
                    <a:lstStyle/>
                    <a:p>
                      <a:pPr algn="ctr"/>
                      <a:r>
                        <a:rPr lang="en-IN" sz="1400" dirty="0">
                          <a:latin typeface="Cambria" panose="02040503050406030204" pitchFamily="18" charset="0"/>
                          <a:ea typeface="Cambria" panose="02040503050406030204" pitchFamily="18" charset="0"/>
                        </a:rPr>
                        <a:t>5.38</a:t>
                      </a:r>
                    </a:p>
                  </a:txBody>
                  <a:tcPr/>
                </a:tc>
                <a:tc>
                  <a:txBody>
                    <a:bodyPr/>
                    <a:lstStyle/>
                    <a:p>
                      <a:pPr algn="ctr"/>
                      <a:r>
                        <a:rPr lang="en-IN" sz="1400" dirty="0">
                          <a:latin typeface="Cambria" panose="02040503050406030204" pitchFamily="18" charset="0"/>
                          <a:ea typeface="Cambria" panose="02040503050406030204" pitchFamily="18" charset="0"/>
                        </a:rPr>
                        <a:t>7.55</a:t>
                      </a:r>
                    </a:p>
                  </a:txBody>
                  <a:tcPr/>
                </a:tc>
                <a:tc>
                  <a:txBody>
                    <a:bodyPr/>
                    <a:lstStyle/>
                    <a:p>
                      <a:pPr algn="ctr"/>
                      <a:r>
                        <a:rPr lang="en-IN" sz="1400" dirty="0">
                          <a:latin typeface="Cambria" panose="02040503050406030204" pitchFamily="18" charset="0"/>
                          <a:ea typeface="Cambria" panose="02040503050406030204" pitchFamily="18" charset="0"/>
                        </a:rPr>
                        <a:t>Completed</a:t>
                      </a:r>
                    </a:p>
                  </a:txBody>
                  <a:tcPr/>
                </a:tc>
                <a:extLst>
                  <a:ext uri="{0D108BD9-81ED-4DB2-BD59-A6C34878D82A}">
                    <a16:rowId xmlns:a16="http://schemas.microsoft.com/office/drawing/2014/main" val="3518935105"/>
                  </a:ext>
                </a:extLst>
              </a:tr>
              <a:tr h="501791">
                <a:tc>
                  <a:txBody>
                    <a:bodyPr/>
                    <a:lstStyle/>
                    <a:p>
                      <a:pPr algn="ctr"/>
                      <a:r>
                        <a:rPr lang="en-IN" sz="1400" dirty="0">
                          <a:latin typeface="Cambria" panose="02040503050406030204" pitchFamily="18" charset="0"/>
                          <a:ea typeface="Cambria" panose="02040503050406030204" pitchFamily="18" charset="0"/>
                        </a:rPr>
                        <a:t>3</a:t>
                      </a:r>
                    </a:p>
                  </a:txBody>
                  <a:tcPr/>
                </a:tc>
                <a:tc>
                  <a:txBody>
                    <a:bodyPr/>
                    <a:lstStyle/>
                    <a:p>
                      <a:pPr algn="ctr"/>
                      <a:r>
                        <a:rPr lang="en-IN" sz="1400" dirty="0">
                          <a:latin typeface="Cambria" panose="02040503050406030204" pitchFamily="18" charset="0"/>
                          <a:ea typeface="Cambria" panose="02040503050406030204" pitchFamily="18" charset="0"/>
                        </a:rPr>
                        <a:t>3</a:t>
                      </a:r>
                    </a:p>
                  </a:txBody>
                  <a:tcPr/>
                </a:tc>
                <a:tc>
                  <a:txBody>
                    <a:bodyPr/>
                    <a:lstStyle/>
                    <a:p>
                      <a:pPr algn="ctr"/>
                      <a:r>
                        <a:rPr lang="en-IN" sz="1400" dirty="0">
                          <a:latin typeface="Cambria" panose="02040503050406030204" pitchFamily="18" charset="0"/>
                          <a:ea typeface="Cambria" panose="02040503050406030204" pitchFamily="18" charset="0"/>
                        </a:rPr>
                        <a:t>P4 - Low</a:t>
                      </a:r>
                    </a:p>
                  </a:txBody>
                  <a:tcPr/>
                </a:tc>
                <a:tc>
                  <a:txBody>
                    <a:bodyPr/>
                    <a:lstStyle/>
                    <a:p>
                      <a:pPr algn="ctr"/>
                      <a:r>
                        <a:rPr lang="en-IN" sz="1400" dirty="0">
                          <a:latin typeface="Cambria" panose="02040503050406030204" pitchFamily="18" charset="0"/>
                          <a:ea typeface="Cambria" panose="02040503050406030204" pitchFamily="18" charset="0"/>
                        </a:rPr>
                        <a:t>5.61</a:t>
                      </a:r>
                    </a:p>
                  </a:txBody>
                  <a:tcPr/>
                </a:tc>
                <a:tc>
                  <a:txBody>
                    <a:bodyPr/>
                    <a:lstStyle/>
                    <a:p>
                      <a:pPr algn="ctr"/>
                      <a:r>
                        <a:rPr lang="en-IN" sz="1400" dirty="0">
                          <a:latin typeface="Cambria" panose="02040503050406030204" pitchFamily="18" charset="0"/>
                          <a:ea typeface="Cambria" panose="02040503050406030204" pitchFamily="18" charset="0"/>
                        </a:rPr>
                        <a:t>8.32</a:t>
                      </a:r>
                    </a:p>
                  </a:txBody>
                  <a:tcPr/>
                </a:tc>
                <a:tc>
                  <a:txBody>
                    <a:bodyPr/>
                    <a:lstStyle/>
                    <a:p>
                      <a:pPr algn="ctr"/>
                      <a:r>
                        <a:rPr lang="en-IN" sz="1400" dirty="0">
                          <a:latin typeface="Cambria" panose="02040503050406030204" pitchFamily="18" charset="0"/>
                          <a:ea typeface="Cambria" panose="02040503050406030204" pitchFamily="18" charset="0"/>
                        </a:rPr>
                        <a:t>Completed</a:t>
                      </a:r>
                    </a:p>
                  </a:txBody>
                  <a:tcPr/>
                </a:tc>
                <a:extLst>
                  <a:ext uri="{0D108BD9-81ED-4DB2-BD59-A6C34878D82A}">
                    <a16:rowId xmlns:a16="http://schemas.microsoft.com/office/drawing/2014/main" val="1716287941"/>
                  </a:ext>
                </a:extLst>
              </a:tr>
              <a:tr h="501791">
                <a:tc>
                  <a:txBody>
                    <a:bodyPr/>
                    <a:lstStyle/>
                    <a:p>
                      <a:pPr algn="ctr"/>
                      <a:r>
                        <a:rPr lang="en-IN" sz="1400" dirty="0">
                          <a:latin typeface="Cambria" panose="02040503050406030204" pitchFamily="18" charset="0"/>
                          <a:ea typeface="Cambria" panose="02040503050406030204" pitchFamily="18" charset="0"/>
                        </a:rPr>
                        <a:t>4</a:t>
                      </a:r>
                    </a:p>
                  </a:txBody>
                  <a:tcPr/>
                </a:tc>
                <a:tc>
                  <a:txBody>
                    <a:bodyPr/>
                    <a:lstStyle/>
                    <a:p>
                      <a:pPr algn="ctr"/>
                      <a:r>
                        <a:rPr lang="en-IN" sz="1400" dirty="0">
                          <a:latin typeface="Cambria" panose="02040503050406030204" pitchFamily="18" charset="0"/>
                          <a:ea typeface="Cambria" panose="02040503050406030204" pitchFamily="18" charset="0"/>
                        </a:rPr>
                        <a:t>4</a:t>
                      </a:r>
                    </a:p>
                  </a:txBody>
                  <a:tcPr/>
                </a:tc>
                <a:tc>
                  <a:txBody>
                    <a:bodyPr/>
                    <a:lstStyle/>
                    <a:p>
                      <a:pPr algn="ctr"/>
                      <a:r>
                        <a:rPr lang="en-IN" sz="1400" dirty="0">
                          <a:latin typeface="Cambria" panose="02040503050406030204" pitchFamily="18" charset="0"/>
                          <a:ea typeface="Cambria" panose="02040503050406030204" pitchFamily="18" charset="0"/>
                        </a:rPr>
                        <a:t>P4 - Low</a:t>
                      </a:r>
                    </a:p>
                  </a:txBody>
                  <a:tcPr/>
                </a:tc>
                <a:tc>
                  <a:txBody>
                    <a:bodyPr/>
                    <a:lstStyle/>
                    <a:p>
                      <a:pPr algn="ctr"/>
                      <a:r>
                        <a:rPr lang="en-IN" sz="1400" dirty="0">
                          <a:latin typeface="Cambria" panose="02040503050406030204" pitchFamily="18" charset="0"/>
                          <a:ea typeface="Cambria" panose="02040503050406030204" pitchFamily="18" charset="0"/>
                        </a:rPr>
                        <a:t>6.61</a:t>
                      </a:r>
                    </a:p>
                  </a:txBody>
                  <a:tcPr/>
                </a:tc>
                <a:tc>
                  <a:txBody>
                    <a:bodyPr/>
                    <a:lstStyle/>
                    <a:p>
                      <a:pPr algn="ctr"/>
                      <a:r>
                        <a:rPr lang="en-IN" sz="1400" dirty="0">
                          <a:latin typeface="Cambria" panose="02040503050406030204" pitchFamily="18" charset="0"/>
                          <a:ea typeface="Cambria" panose="02040503050406030204" pitchFamily="18" charset="0"/>
                        </a:rPr>
                        <a:t>10.39</a:t>
                      </a:r>
                    </a:p>
                  </a:txBody>
                  <a:tcPr/>
                </a:tc>
                <a:tc>
                  <a:txBody>
                    <a:bodyPr/>
                    <a:lstStyle/>
                    <a:p>
                      <a:pPr algn="ctr"/>
                      <a:r>
                        <a:rPr lang="en-IN" sz="1400" dirty="0">
                          <a:latin typeface="Cambria" panose="02040503050406030204" pitchFamily="18" charset="0"/>
                          <a:ea typeface="Cambria" panose="02040503050406030204" pitchFamily="18" charset="0"/>
                        </a:rPr>
                        <a:t>Completed</a:t>
                      </a:r>
                    </a:p>
                  </a:txBody>
                  <a:tcPr/>
                </a:tc>
                <a:extLst>
                  <a:ext uri="{0D108BD9-81ED-4DB2-BD59-A6C34878D82A}">
                    <a16:rowId xmlns:a16="http://schemas.microsoft.com/office/drawing/2014/main" val="1880318778"/>
                  </a:ext>
                </a:extLst>
              </a:tr>
              <a:tr h="501791">
                <a:tc>
                  <a:txBody>
                    <a:bodyPr/>
                    <a:lstStyle/>
                    <a:p>
                      <a:pPr algn="ctr"/>
                      <a:r>
                        <a:rPr lang="en-IN" sz="1400" dirty="0">
                          <a:latin typeface="Cambria" panose="02040503050406030204" pitchFamily="18" charset="0"/>
                          <a:ea typeface="Cambria" panose="02040503050406030204" pitchFamily="18" charset="0"/>
                        </a:rPr>
                        <a:t>5</a:t>
                      </a:r>
                    </a:p>
                  </a:txBody>
                  <a:tcPr/>
                </a:tc>
                <a:tc>
                  <a:txBody>
                    <a:bodyPr/>
                    <a:lstStyle/>
                    <a:p>
                      <a:pPr algn="ctr"/>
                      <a:r>
                        <a:rPr lang="en-IN" sz="1400" dirty="0">
                          <a:latin typeface="Cambria" panose="02040503050406030204" pitchFamily="18" charset="0"/>
                          <a:ea typeface="Cambria" panose="02040503050406030204" pitchFamily="18" charset="0"/>
                        </a:rPr>
                        <a:t>5</a:t>
                      </a:r>
                    </a:p>
                  </a:txBody>
                  <a:tcPr/>
                </a:tc>
                <a:tc>
                  <a:txBody>
                    <a:bodyPr/>
                    <a:lstStyle/>
                    <a:p>
                      <a:pPr algn="ctr"/>
                      <a:r>
                        <a:rPr lang="en-IN" sz="1400" dirty="0">
                          <a:latin typeface="Cambria" panose="02040503050406030204" pitchFamily="18" charset="0"/>
                          <a:ea typeface="Cambria" panose="02040503050406030204" pitchFamily="18" charset="0"/>
                        </a:rPr>
                        <a:t>P4 - Low</a:t>
                      </a:r>
                    </a:p>
                  </a:txBody>
                  <a:tcPr/>
                </a:tc>
                <a:tc>
                  <a:txBody>
                    <a:bodyPr/>
                    <a:lstStyle/>
                    <a:p>
                      <a:pPr algn="ctr"/>
                      <a:r>
                        <a:rPr lang="en-IN" sz="1400" dirty="0">
                          <a:latin typeface="Cambria" panose="02040503050406030204" pitchFamily="18" charset="0"/>
                          <a:ea typeface="Cambria" panose="02040503050406030204" pitchFamily="18" charset="0"/>
                        </a:rPr>
                        <a:t>112.72</a:t>
                      </a:r>
                    </a:p>
                  </a:txBody>
                  <a:tcPr/>
                </a:tc>
                <a:tc>
                  <a:txBody>
                    <a:bodyPr/>
                    <a:lstStyle/>
                    <a:p>
                      <a:pPr algn="ctr"/>
                      <a:r>
                        <a:rPr lang="en-IN" sz="1400" dirty="0">
                          <a:latin typeface="Cambria" panose="02040503050406030204" pitchFamily="18" charset="0"/>
                          <a:ea typeface="Cambria" panose="02040503050406030204" pitchFamily="18" charset="0"/>
                        </a:rPr>
                        <a:t>116.89</a:t>
                      </a:r>
                    </a:p>
                  </a:txBody>
                  <a:tcPr/>
                </a:tc>
                <a:tc>
                  <a:txBody>
                    <a:bodyPr/>
                    <a:lstStyle/>
                    <a:p>
                      <a:pPr algn="ctr"/>
                      <a:r>
                        <a:rPr lang="en-IN" sz="1400" dirty="0">
                          <a:latin typeface="Cambria" panose="02040503050406030204" pitchFamily="18" charset="0"/>
                          <a:ea typeface="Cambria" panose="02040503050406030204" pitchFamily="18" charset="0"/>
                        </a:rPr>
                        <a:t>Completed</a:t>
                      </a:r>
                    </a:p>
                  </a:txBody>
                  <a:tcPr/>
                </a:tc>
                <a:extLst>
                  <a:ext uri="{0D108BD9-81ED-4DB2-BD59-A6C34878D82A}">
                    <a16:rowId xmlns:a16="http://schemas.microsoft.com/office/drawing/2014/main" val="457161634"/>
                  </a:ext>
                </a:extLst>
              </a:tr>
            </a:tbl>
          </a:graphicData>
        </a:graphic>
      </p:graphicFrame>
      <p:pic>
        <p:nvPicPr>
          <p:cNvPr id="7" name="Picture 6">
            <a:extLst>
              <a:ext uri="{FF2B5EF4-FFF2-40B4-BE49-F238E27FC236}">
                <a16:creationId xmlns:a16="http://schemas.microsoft.com/office/drawing/2014/main" id="{5780CBE7-2B36-C9E6-B89A-C8742B352503}"/>
              </a:ext>
            </a:extLst>
          </p:cNvPr>
          <p:cNvPicPr>
            <a:picLocks noChangeAspect="1"/>
          </p:cNvPicPr>
          <p:nvPr/>
        </p:nvPicPr>
        <p:blipFill>
          <a:blip r:embed="rId2"/>
          <a:stretch>
            <a:fillRect/>
          </a:stretch>
        </p:blipFill>
        <p:spPr>
          <a:xfrm>
            <a:off x="6259511" y="1595437"/>
            <a:ext cx="5929313" cy="2627630"/>
          </a:xfrm>
          <a:prstGeom prst="rect">
            <a:avLst/>
          </a:prstGeom>
        </p:spPr>
      </p:pic>
      <p:pic>
        <p:nvPicPr>
          <p:cNvPr id="9" name="Picture 8">
            <a:extLst>
              <a:ext uri="{FF2B5EF4-FFF2-40B4-BE49-F238E27FC236}">
                <a16:creationId xmlns:a16="http://schemas.microsoft.com/office/drawing/2014/main" id="{570876C9-041E-E4F9-2CE9-21107B0F7D51}"/>
              </a:ext>
            </a:extLst>
          </p:cNvPr>
          <p:cNvPicPr>
            <a:picLocks noChangeAspect="1"/>
          </p:cNvPicPr>
          <p:nvPr/>
        </p:nvPicPr>
        <p:blipFill>
          <a:blip r:embed="rId3"/>
          <a:stretch>
            <a:fillRect/>
          </a:stretch>
        </p:blipFill>
        <p:spPr>
          <a:xfrm>
            <a:off x="6259511" y="4223067"/>
            <a:ext cx="5929313" cy="2525062"/>
          </a:xfrm>
          <a:prstGeom prst="rect">
            <a:avLst/>
          </a:prstGeom>
        </p:spPr>
      </p:pic>
      <p:sp>
        <p:nvSpPr>
          <p:cNvPr id="10" name="TextBox 9">
            <a:extLst>
              <a:ext uri="{FF2B5EF4-FFF2-40B4-BE49-F238E27FC236}">
                <a16:creationId xmlns:a16="http://schemas.microsoft.com/office/drawing/2014/main" id="{5FF70CCA-127B-D1BB-9C33-C607E9861916}"/>
              </a:ext>
            </a:extLst>
          </p:cNvPr>
          <p:cNvSpPr txBox="1"/>
          <p:nvPr/>
        </p:nvSpPr>
        <p:spPr>
          <a:xfrm>
            <a:off x="193380" y="5578280"/>
            <a:ext cx="5901032" cy="1200329"/>
          </a:xfrm>
          <a:prstGeom prst="rect">
            <a:avLst/>
          </a:prstGeom>
          <a:noFill/>
        </p:spPr>
        <p:txBody>
          <a:bodyPr wrap="square" rtlCol="0">
            <a:spAutoFit/>
          </a:bodyPr>
          <a:lstStyle/>
          <a:p>
            <a:r>
              <a:rPr lang="en-US" b="1" dirty="0">
                <a:latin typeface="Cambria" panose="02040503050406030204" pitchFamily="18" charset="0"/>
                <a:ea typeface="Cambria" panose="02040503050406030204" pitchFamily="18" charset="0"/>
              </a:rPr>
              <a:t>Observed Output: </a:t>
            </a:r>
            <a:r>
              <a:rPr lang="en-US" dirty="0">
                <a:latin typeface="Cambria" panose="02040503050406030204" pitchFamily="18" charset="0"/>
                <a:ea typeface="Cambria" panose="02040503050406030204" pitchFamily="18" charset="0"/>
              </a:rPr>
              <a:t>The simulation processed security jobs sequentially according to dynamic priority, with waiting time and turnaround time recorded for each completed job.</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12310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2B1C2-B679-493C-C547-4FA4A8846880}"/>
              </a:ext>
            </a:extLst>
          </p:cNvPr>
          <p:cNvSpPr>
            <a:spLocks noGrp="1"/>
          </p:cNvSpPr>
          <p:nvPr>
            <p:ph type="title"/>
          </p:nvPr>
        </p:nvSpPr>
        <p:spPr>
          <a:xfrm>
            <a:off x="3856594" y="1147445"/>
            <a:ext cx="5124845" cy="610235"/>
          </a:xfrm>
        </p:spPr>
        <p:txBody>
          <a:bodyPr>
            <a:normAutofit fontScale="90000"/>
          </a:bodyPr>
          <a:lstStyle/>
          <a:p>
            <a:r>
              <a:rPr lang="en-IN" b="1" dirty="0">
                <a:solidFill>
                  <a:schemeClr val="accent1">
                    <a:lumMod val="75000"/>
                  </a:schemeClr>
                </a:solidFill>
                <a:latin typeface="Cambria" panose="02040503050406030204" pitchFamily="18" charset="0"/>
                <a:ea typeface="Cambria" panose="02040503050406030204" pitchFamily="18" charset="0"/>
              </a:rPr>
              <a:t>Statistical Summary</a:t>
            </a:r>
          </a:p>
        </p:txBody>
      </p:sp>
      <p:graphicFrame>
        <p:nvGraphicFramePr>
          <p:cNvPr id="4" name="Table 3">
            <a:extLst>
              <a:ext uri="{FF2B5EF4-FFF2-40B4-BE49-F238E27FC236}">
                <a16:creationId xmlns:a16="http://schemas.microsoft.com/office/drawing/2014/main" id="{6E691331-2A9B-615C-41CA-93936FDD0162}"/>
              </a:ext>
            </a:extLst>
          </p:cNvPr>
          <p:cNvGraphicFramePr>
            <a:graphicFrameLocks noGrp="1"/>
          </p:cNvGraphicFramePr>
          <p:nvPr>
            <p:extLst>
              <p:ext uri="{D42A27DB-BD31-4B8C-83A1-F6EECF244321}">
                <p14:modId xmlns:p14="http://schemas.microsoft.com/office/powerpoint/2010/main" val="3886745612"/>
              </p:ext>
            </p:extLst>
          </p:nvPr>
        </p:nvGraphicFramePr>
        <p:xfrm>
          <a:off x="202671" y="2590800"/>
          <a:ext cx="4430289" cy="2225040"/>
        </p:xfrm>
        <a:graphic>
          <a:graphicData uri="http://schemas.openxmlformats.org/drawingml/2006/table">
            <a:tbl>
              <a:tblPr firstRow="1" bandRow="1">
                <a:tableStyleId>{5C22544A-7EE6-4342-B048-85BDC9FD1C3A}</a:tableStyleId>
              </a:tblPr>
              <a:tblGrid>
                <a:gridCol w="2511772">
                  <a:extLst>
                    <a:ext uri="{9D8B030D-6E8A-4147-A177-3AD203B41FA5}">
                      <a16:colId xmlns:a16="http://schemas.microsoft.com/office/drawing/2014/main" val="1121859267"/>
                    </a:ext>
                  </a:extLst>
                </a:gridCol>
                <a:gridCol w="1918517">
                  <a:extLst>
                    <a:ext uri="{9D8B030D-6E8A-4147-A177-3AD203B41FA5}">
                      <a16:colId xmlns:a16="http://schemas.microsoft.com/office/drawing/2014/main" val="188981475"/>
                    </a:ext>
                  </a:extLst>
                </a:gridCol>
              </a:tblGrid>
              <a:tr h="370840">
                <a:tc>
                  <a:txBody>
                    <a:bodyPr/>
                    <a:lstStyle/>
                    <a:p>
                      <a:pPr algn="ctr"/>
                      <a:r>
                        <a:rPr lang="en-IN" dirty="0"/>
                        <a:t>Metric </a:t>
                      </a:r>
                    </a:p>
                  </a:txBody>
                  <a:tcPr/>
                </a:tc>
                <a:tc>
                  <a:txBody>
                    <a:bodyPr/>
                    <a:lstStyle/>
                    <a:p>
                      <a:pPr algn="ctr"/>
                      <a:r>
                        <a:rPr lang="en-IN" dirty="0"/>
                        <a:t>Value</a:t>
                      </a:r>
                    </a:p>
                  </a:txBody>
                  <a:tcPr/>
                </a:tc>
                <a:extLst>
                  <a:ext uri="{0D108BD9-81ED-4DB2-BD59-A6C34878D82A}">
                    <a16:rowId xmlns:a16="http://schemas.microsoft.com/office/drawing/2014/main" val="2631040022"/>
                  </a:ext>
                </a:extLst>
              </a:tr>
              <a:tr h="370840">
                <a:tc>
                  <a:txBody>
                    <a:bodyPr/>
                    <a:lstStyle/>
                    <a:p>
                      <a:pPr algn="l"/>
                      <a:r>
                        <a:rPr lang="en-IN" dirty="0"/>
                        <a:t>Total Jobs</a:t>
                      </a:r>
                    </a:p>
                  </a:txBody>
                  <a:tcPr/>
                </a:tc>
                <a:tc>
                  <a:txBody>
                    <a:bodyPr/>
                    <a:lstStyle/>
                    <a:p>
                      <a:pPr algn="l"/>
                      <a:r>
                        <a:rPr lang="en-IN" dirty="0"/>
                        <a:t>1000</a:t>
                      </a:r>
                    </a:p>
                  </a:txBody>
                  <a:tcPr/>
                </a:tc>
                <a:extLst>
                  <a:ext uri="{0D108BD9-81ED-4DB2-BD59-A6C34878D82A}">
                    <a16:rowId xmlns:a16="http://schemas.microsoft.com/office/drawing/2014/main" val="1383344651"/>
                  </a:ext>
                </a:extLst>
              </a:tr>
              <a:tr h="370840">
                <a:tc>
                  <a:txBody>
                    <a:bodyPr/>
                    <a:lstStyle/>
                    <a:p>
                      <a:pPr algn="l"/>
                      <a:r>
                        <a:rPr lang="en-IN" dirty="0"/>
                        <a:t>Total Simulation Time</a:t>
                      </a:r>
                    </a:p>
                  </a:txBody>
                  <a:tcPr/>
                </a:tc>
                <a:tc>
                  <a:txBody>
                    <a:bodyPr/>
                    <a:lstStyle/>
                    <a:p>
                      <a:pPr algn="l"/>
                      <a:r>
                        <a:rPr lang="en-IN" dirty="0"/>
                        <a:t>4580.52 min</a:t>
                      </a:r>
                    </a:p>
                  </a:txBody>
                  <a:tcPr/>
                </a:tc>
                <a:extLst>
                  <a:ext uri="{0D108BD9-81ED-4DB2-BD59-A6C34878D82A}">
                    <a16:rowId xmlns:a16="http://schemas.microsoft.com/office/drawing/2014/main" val="3062421"/>
                  </a:ext>
                </a:extLst>
              </a:tr>
              <a:tr h="370840">
                <a:tc>
                  <a:txBody>
                    <a:bodyPr/>
                    <a:lstStyle/>
                    <a:p>
                      <a:pPr algn="l"/>
                      <a:r>
                        <a:rPr lang="en-IN" dirty="0"/>
                        <a:t>Average Waiting Time </a:t>
                      </a:r>
                    </a:p>
                  </a:txBody>
                  <a:tcPr/>
                </a:tc>
                <a:tc>
                  <a:txBody>
                    <a:bodyPr/>
                    <a:lstStyle/>
                    <a:p>
                      <a:pPr algn="l"/>
                      <a:r>
                        <a:rPr lang="en-IN" dirty="0"/>
                        <a:t>1055.63 min </a:t>
                      </a:r>
                    </a:p>
                  </a:txBody>
                  <a:tcPr/>
                </a:tc>
                <a:extLst>
                  <a:ext uri="{0D108BD9-81ED-4DB2-BD59-A6C34878D82A}">
                    <a16:rowId xmlns:a16="http://schemas.microsoft.com/office/drawing/2014/main" val="2294698604"/>
                  </a:ext>
                </a:extLst>
              </a:tr>
              <a:tr h="370840">
                <a:tc>
                  <a:txBody>
                    <a:bodyPr/>
                    <a:lstStyle/>
                    <a:p>
                      <a:pPr algn="l"/>
                      <a:r>
                        <a:rPr lang="en-IN" dirty="0"/>
                        <a:t>Minimum Waiting Time</a:t>
                      </a:r>
                    </a:p>
                  </a:txBody>
                  <a:tcPr/>
                </a:tc>
                <a:tc>
                  <a:txBody>
                    <a:bodyPr/>
                    <a:lstStyle/>
                    <a:p>
                      <a:pPr algn="l"/>
                      <a:r>
                        <a:rPr lang="en-IN" dirty="0"/>
                        <a:t>0 min </a:t>
                      </a:r>
                    </a:p>
                  </a:txBody>
                  <a:tcPr/>
                </a:tc>
                <a:extLst>
                  <a:ext uri="{0D108BD9-81ED-4DB2-BD59-A6C34878D82A}">
                    <a16:rowId xmlns:a16="http://schemas.microsoft.com/office/drawing/2014/main" val="1347066915"/>
                  </a:ext>
                </a:extLst>
              </a:tr>
              <a:tr h="370840">
                <a:tc>
                  <a:txBody>
                    <a:bodyPr/>
                    <a:lstStyle/>
                    <a:p>
                      <a:pPr algn="l"/>
                      <a:r>
                        <a:rPr lang="en-IN" dirty="0"/>
                        <a:t>Maximum Waiting Time </a:t>
                      </a:r>
                    </a:p>
                  </a:txBody>
                  <a:tcPr/>
                </a:tc>
                <a:tc>
                  <a:txBody>
                    <a:bodyPr/>
                    <a:lstStyle/>
                    <a:p>
                      <a:pPr algn="l"/>
                      <a:r>
                        <a:rPr lang="en-IN" dirty="0"/>
                        <a:t>2068.21 min</a:t>
                      </a:r>
                    </a:p>
                  </a:txBody>
                  <a:tcPr/>
                </a:tc>
                <a:extLst>
                  <a:ext uri="{0D108BD9-81ED-4DB2-BD59-A6C34878D82A}">
                    <a16:rowId xmlns:a16="http://schemas.microsoft.com/office/drawing/2014/main" val="4276436649"/>
                  </a:ext>
                </a:extLst>
              </a:tr>
            </a:tbl>
          </a:graphicData>
        </a:graphic>
      </p:graphicFrame>
      <p:pic>
        <p:nvPicPr>
          <p:cNvPr id="6" name="Picture 5">
            <a:extLst>
              <a:ext uri="{FF2B5EF4-FFF2-40B4-BE49-F238E27FC236}">
                <a16:creationId xmlns:a16="http://schemas.microsoft.com/office/drawing/2014/main" id="{48360973-C298-94DB-7509-831AC49116F9}"/>
              </a:ext>
            </a:extLst>
          </p:cNvPr>
          <p:cNvPicPr>
            <a:picLocks noChangeAspect="1"/>
          </p:cNvPicPr>
          <p:nvPr/>
        </p:nvPicPr>
        <p:blipFill>
          <a:blip r:embed="rId2"/>
          <a:stretch>
            <a:fillRect/>
          </a:stretch>
        </p:blipFill>
        <p:spPr>
          <a:xfrm>
            <a:off x="4876800" y="2037080"/>
            <a:ext cx="7278475" cy="4582160"/>
          </a:xfrm>
          <a:prstGeom prst="rect">
            <a:avLst/>
          </a:prstGeom>
        </p:spPr>
      </p:pic>
    </p:spTree>
    <p:extLst>
      <p:ext uri="{BB962C8B-B14F-4D97-AF65-F5344CB8AC3E}">
        <p14:creationId xmlns:p14="http://schemas.microsoft.com/office/powerpoint/2010/main" val="278112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80ED6-485C-67D7-728C-83AA48EB72E1}"/>
              </a:ext>
            </a:extLst>
          </p:cNvPr>
          <p:cNvSpPr>
            <a:spLocks noGrp="1"/>
          </p:cNvSpPr>
          <p:nvPr>
            <p:ph type="title"/>
          </p:nvPr>
        </p:nvSpPr>
        <p:spPr>
          <a:xfrm>
            <a:off x="3689240" y="1083529"/>
            <a:ext cx="5440835" cy="614131"/>
          </a:xfrm>
        </p:spPr>
        <p:txBody>
          <a:bodyPr>
            <a:normAutofit fontScale="90000"/>
          </a:bodyPr>
          <a:lstStyle/>
          <a:p>
            <a:r>
              <a:rPr lang="en-IN" b="1" dirty="0" err="1">
                <a:solidFill>
                  <a:schemeClr val="accent1">
                    <a:lumMod val="75000"/>
                  </a:schemeClr>
                </a:solidFill>
                <a:latin typeface="Cambria" panose="02040503050406030204" pitchFamily="18" charset="0"/>
                <a:ea typeface="Cambria" panose="02040503050406030204" pitchFamily="18" charset="0"/>
              </a:rPr>
              <a:t>Stastitical</a:t>
            </a:r>
            <a:r>
              <a:rPr lang="en-IN" b="1" dirty="0">
                <a:solidFill>
                  <a:schemeClr val="accent1">
                    <a:lumMod val="75000"/>
                  </a:schemeClr>
                </a:solidFill>
                <a:latin typeface="Cambria" panose="02040503050406030204" pitchFamily="18" charset="0"/>
                <a:ea typeface="Cambria" panose="02040503050406030204" pitchFamily="18" charset="0"/>
              </a:rPr>
              <a:t> evaluation</a:t>
            </a:r>
          </a:p>
        </p:txBody>
      </p:sp>
      <p:graphicFrame>
        <p:nvGraphicFramePr>
          <p:cNvPr id="4" name="Table 3">
            <a:extLst>
              <a:ext uri="{FF2B5EF4-FFF2-40B4-BE49-F238E27FC236}">
                <a16:creationId xmlns:a16="http://schemas.microsoft.com/office/drawing/2014/main" id="{5C61F5E9-A25D-B813-C539-48F85F2D0186}"/>
              </a:ext>
            </a:extLst>
          </p:cNvPr>
          <p:cNvGraphicFramePr>
            <a:graphicFrameLocks noGrp="1"/>
          </p:cNvGraphicFramePr>
          <p:nvPr>
            <p:extLst>
              <p:ext uri="{D42A27DB-BD31-4B8C-83A1-F6EECF244321}">
                <p14:modId xmlns:p14="http://schemas.microsoft.com/office/powerpoint/2010/main" val="4252017150"/>
              </p:ext>
            </p:extLst>
          </p:nvPr>
        </p:nvGraphicFramePr>
        <p:xfrm>
          <a:off x="0" y="1925614"/>
          <a:ext cx="6644640" cy="3281679"/>
        </p:xfrm>
        <a:graphic>
          <a:graphicData uri="http://schemas.openxmlformats.org/drawingml/2006/table">
            <a:tbl>
              <a:tblPr firstRow="1" bandRow="1">
                <a:tableStyleId>{5C22544A-7EE6-4342-B048-85BDC9FD1C3A}</a:tableStyleId>
              </a:tblPr>
              <a:tblGrid>
                <a:gridCol w="2925277">
                  <a:extLst>
                    <a:ext uri="{9D8B030D-6E8A-4147-A177-3AD203B41FA5}">
                      <a16:colId xmlns:a16="http://schemas.microsoft.com/office/drawing/2014/main" val="1501301153"/>
                    </a:ext>
                  </a:extLst>
                </a:gridCol>
                <a:gridCol w="3719363">
                  <a:extLst>
                    <a:ext uri="{9D8B030D-6E8A-4147-A177-3AD203B41FA5}">
                      <a16:colId xmlns:a16="http://schemas.microsoft.com/office/drawing/2014/main" val="1033920069"/>
                    </a:ext>
                  </a:extLst>
                </a:gridCol>
              </a:tblGrid>
              <a:tr h="686270">
                <a:tc>
                  <a:txBody>
                    <a:bodyPr/>
                    <a:lstStyle/>
                    <a:p>
                      <a:pPr algn="ctr"/>
                      <a:r>
                        <a:rPr lang="en-IN" dirty="0"/>
                        <a:t>Evaluation Parameter</a:t>
                      </a:r>
                    </a:p>
                  </a:txBody>
                  <a:tcPr/>
                </a:tc>
                <a:tc>
                  <a:txBody>
                    <a:bodyPr/>
                    <a:lstStyle/>
                    <a:p>
                      <a:pPr algn="ctr"/>
                      <a:r>
                        <a:rPr lang="en-IN" dirty="0"/>
                        <a:t>Result</a:t>
                      </a:r>
                    </a:p>
                  </a:txBody>
                  <a:tcPr/>
                </a:tc>
                <a:extLst>
                  <a:ext uri="{0D108BD9-81ED-4DB2-BD59-A6C34878D82A}">
                    <a16:rowId xmlns:a16="http://schemas.microsoft.com/office/drawing/2014/main" val="474193922"/>
                  </a:ext>
                </a:extLst>
              </a:tr>
              <a:tr h="453265">
                <a:tc>
                  <a:txBody>
                    <a:bodyPr/>
                    <a:lstStyle/>
                    <a:p>
                      <a:pPr algn="ctr"/>
                      <a:r>
                        <a:rPr lang="en-IN" dirty="0"/>
                        <a:t>Queue Stability</a:t>
                      </a:r>
                    </a:p>
                  </a:txBody>
                  <a:tcPr/>
                </a:tc>
                <a:tc>
                  <a:txBody>
                    <a:bodyPr/>
                    <a:lstStyle/>
                    <a:p>
                      <a:pPr algn="ctr"/>
                      <a:r>
                        <a:rPr lang="en-IN" dirty="0"/>
                        <a:t>PASS</a:t>
                      </a:r>
                    </a:p>
                  </a:txBody>
                  <a:tcPr/>
                </a:tc>
                <a:extLst>
                  <a:ext uri="{0D108BD9-81ED-4DB2-BD59-A6C34878D82A}">
                    <a16:rowId xmlns:a16="http://schemas.microsoft.com/office/drawing/2014/main" val="2461840622"/>
                  </a:ext>
                </a:extLst>
              </a:tr>
              <a:tr h="453265">
                <a:tc>
                  <a:txBody>
                    <a:bodyPr/>
                    <a:lstStyle/>
                    <a:p>
                      <a:pPr algn="ctr"/>
                      <a:r>
                        <a:rPr lang="en-IN" dirty="0"/>
                        <a:t>Average Waiting Time </a:t>
                      </a:r>
                    </a:p>
                  </a:txBody>
                  <a:tcPr/>
                </a:tc>
                <a:tc>
                  <a:txBody>
                    <a:bodyPr/>
                    <a:lstStyle/>
                    <a:p>
                      <a:pPr algn="ctr"/>
                      <a:r>
                        <a:rPr lang="en-IN" dirty="0"/>
                        <a:t>NEED IMPROVEMENT</a:t>
                      </a:r>
                    </a:p>
                  </a:txBody>
                  <a:tcPr/>
                </a:tc>
                <a:extLst>
                  <a:ext uri="{0D108BD9-81ED-4DB2-BD59-A6C34878D82A}">
                    <a16:rowId xmlns:a16="http://schemas.microsoft.com/office/drawing/2014/main" val="1029635772"/>
                  </a:ext>
                </a:extLst>
              </a:tr>
              <a:tr h="453265">
                <a:tc>
                  <a:txBody>
                    <a:bodyPr/>
                    <a:lstStyle/>
                    <a:p>
                      <a:pPr algn="ctr"/>
                      <a:r>
                        <a:rPr lang="en-IN" dirty="0"/>
                        <a:t>Average Turnaround time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NEED IMPROVEMENT</a:t>
                      </a:r>
                    </a:p>
                  </a:txBody>
                  <a:tcPr/>
                </a:tc>
                <a:extLst>
                  <a:ext uri="{0D108BD9-81ED-4DB2-BD59-A6C34878D82A}">
                    <a16:rowId xmlns:a16="http://schemas.microsoft.com/office/drawing/2014/main" val="1909043883"/>
                  </a:ext>
                </a:extLst>
              </a:tr>
              <a:tr h="782349">
                <a:tc>
                  <a:txBody>
                    <a:bodyPr/>
                    <a:lstStyle/>
                    <a:p>
                      <a:pPr algn="ctr"/>
                      <a:r>
                        <a:rPr lang="en-IN" dirty="0"/>
                        <a:t>Critical Vulnerability Prioritization</a:t>
                      </a:r>
                    </a:p>
                  </a:txBody>
                  <a:tcPr/>
                </a:tc>
                <a:tc>
                  <a:txBody>
                    <a:bodyPr/>
                    <a:lstStyle/>
                    <a:p>
                      <a:pPr algn="ctr"/>
                      <a:r>
                        <a:rPr lang="en-IN" dirty="0"/>
                        <a:t>PASS</a:t>
                      </a:r>
                    </a:p>
                  </a:txBody>
                  <a:tcPr/>
                </a:tc>
                <a:extLst>
                  <a:ext uri="{0D108BD9-81ED-4DB2-BD59-A6C34878D82A}">
                    <a16:rowId xmlns:a16="http://schemas.microsoft.com/office/drawing/2014/main" val="223412490"/>
                  </a:ext>
                </a:extLst>
              </a:tr>
              <a:tr h="453265">
                <a:tc>
                  <a:txBody>
                    <a:bodyPr/>
                    <a:lstStyle/>
                    <a:p>
                      <a:pPr algn="ctr"/>
                      <a:r>
                        <a:rPr lang="en-IN" dirty="0"/>
                        <a:t>Risk-priority alignment</a:t>
                      </a:r>
                    </a:p>
                  </a:txBody>
                  <a:tcPr/>
                </a:tc>
                <a:tc>
                  <a:txBody>
                    <a:bodyPr/>
                    <a:lstStyle/>
                    <a:p>
                      <a:pPr algn="ctr"/>
                      <a:r>
                        <a:rPr lang="en-IN" dirty="0"/>
                        <a:t>PASS</a:t>
                      </a:r>
                    </a:p>
                  </a:txBody>
                  <a:tcPr/>
                </a:tc>
                <a:extLst>
                  <a:ext uri="{0D108BD9-81ED-4DB2-BD59-A6C34878D82A}">
                    <a16:rowId xmlns:a16="http://schemas.microsoft.com/office/drawing/2014/main" val="3310208894"/>
                  </a:ext>
                </a:extLst>
              </a:tr>
            </a:tbl>
          </a:graphicData>
        </a:graphic>
      </p:graphicFrame>
      <p:sp>
        <p:nvSpPr>
          <p:cNvPr id="3" name="TextBox 2">
            <a:extLst>
              <a:ext uri="{FF2B5EF4-FFF2-40B4-BE49-F238E27FC236}">
                <a16:creationId xmlns:a16="http://schemas.microsoft.com/office/drawing/2014/main" id="{6E2B4E1F-8324-8343-1942-15EAE0705466}"/>
              </a:ext>
            </a:extLst>
          </p:cNvPr>
          <p:cNvSpPr txBox="1"/>
          <p:nvPr/>
        </p:nvSpPr>
        <p:spPr>
          <a:xfrm>
            <a:off x="108033" y="5560828"/>
            <a:ext cx="11972758" cy="1200329"/>
          </a:xfrm>
          <a:prstGeom prst="rect">
            <a:avLst/>
          </a:prstGeom>
          <a:noFill/>
        </p:spPr>
        <p:txBody>
          <a:bodyPr wrap="square" rtlCol="0">
            <a:spAutoFit/>
          </a:bodyPr>
          <a:lstStyle/>
          <a:p>
            <a:pPr algn="just"/>
            <a:r>
              <a:rPr lang="en-US" sz="2400" b="1" dirty="0">
                <a:latin typeface="Cambria" panose="02040503050406030204" pitchFamily="18" charset="0"/>
                <a:ea typeface="Cambria" panose="02040503050406030204" pitchFamily="18" charset="0"/>
              </a:rPr>
              <a:t>Overall Evaluation: </a:t>
            </a:r>
            <a:r>
              <a:rPr lang="en-US" sz="2400" dirty="0" err="1">
                <a:latin typeface="Cambria" panose="02040503050406030204" pitchFamily="18" charset="0"/>
                <a:ea typeface="Cambria" panose="02040503050406030204" pitchFamily="18" charset="0"/>
              </a:rPr>
              <a:t>GatekeeperX</a:t>
            </a:r>
            <a:r>
              <a:rPr lang="en-US" sz="2400" dirty="0">
                <a:latin typeface="Cambria" panose="02040503050406030204" pitchFamily="18" charset="0"/>
                <a:ea typeface="Cambria" panose="02040503050406030204" pitchFamily="18" charset="0"/>
              </a:rPr>
              <a:t> successfully maintains queue stability, prioritizes critical vulnerabilities, and aligns processing with security risk. However, average waiting and turnaround times require further optimization.</a:t>
            </a:r>
            <a:endParaRPr lang="en-IN" sz="2400" dirty="0">
              <a:latin typeface="Cambria" panose="02040503050406030204" pitchFamily="18" charset="0"/>
              <a:ea typeface="Cambria" panose="02040503050406030204" pitchFamily="18" charset="0"/>
            </a:endParaRPr>
          </a:p>
        </p:txBody>
      </p:sp>
      <p:pic>
        <p:nvPicPr>
          <p:cNvPr id="6" name="Picture 5">
            <a:extLst>
              <a:ext uri="{FF2B5EF4-FFF2-40B4-BE49-F238E27FC236}">
                <a16:creationId xmlns:a16="http://schemas.microsoft.com/office/drawing/2014/main" id="{F96651F9-062A-6D21-94E6-7B827C47EFEF}"/>
              </a:ext>
            </a:extLst>
          </p:cNvPr>
          <p:cNvPicPr>
            <a:picLocks noChangeAspect="1"/>
          </p:cNvPicPr>
          <p:nvPr/>
        </p:nvPicPr>
        <p:blipFill>
          <a:blip r:embed="rId2"/>
          <a:stretch>
            <a:fillRect/>
          </a:stretch>
        </p:blipFill>
        <p:spPr>
          <a:xfrm>
            <a:off x="6644640" y="1840639"/>
            <a:ext cx="5440835" cy="3366654"/>
          </a:xfrm>
          <a:prstGeom prst="rect">
            <a:avLst/>
          </a:prstGeom>
        </p:spPr>
      </p:pic>
    </p:spTree>
    <p:extLst>
      <p:ext uri="{BB962C8B-B14F-4D97-AF65-F5344CB8AC3E}">
        <p14:creationId xmlns:p14="http://schemas.microsoft.com/office/powerpoint/2010/main" val="26752923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82867" y="1143133"/>
            <a:ext cx="7200000" cy="584775"/>
          </a:xfrm>
          <a:prstGeom prst="rect">
            <a:avLst/>
          </a:prstGeom>
        </p:spPr>
        <p:txBody>
          <a:bodyPr wrap="square">
            <a:spAutoFit/>
          </a:bodyPr>
          <a:lstStyle/>
          <a:p>
            <a:r>
              <a:rPr lang="en-IN" altLang="en-US" sz="3200" b="1" dirty="0">
                <a:solidFill>
                  <a:schemeClr val="accent1">
                    <a:lumMod val="75000"/>
                  </a:schemeClr>
                </a:solidFill>
                <a:latin typeface="Cambria" panose="02040503050406030204" pitchFamily="18" charset="0"/>
                <a:ea typeface="Microsoft YaHei" panose="020B0503020204020204" charset="-122"/>
                <a:cs typeface="Cambria" panose="02040503050406030204" pitchFamily="18" charset="0"/>
              </a:rPr>
              <a:t>Discussion: Sample Dataset Analysis</a:t>
            </a:r>
          </a:p>
        </p:txBody>
      </p:sp>
      <p:sp>
        <p:nvSpPr>
          <p:cNvPr id="3" name="Text Box 2"/>
          <p:cNvSpPr txBox="1"/>
          <p:nvPr/>
        </p:nvSpPr>
        <p:spPr>
          <a:xfrm>
            <a:off x="137885" y="5294179"/>
            <a:ext cx="11718835" cy="1419675"/>
          </a:xfrm>
          <a:prstGeom prst="rect">
            <a:avLst/>
          </a:prstGeom>
          <a:noFill/>
        </p:spPr>
        <p:txBody>
          <a:bodyPr wrap="square" rtlCol="0">
            <a:noAutofit/>
          </a:bodyPr>
          <a:lstStyle/>
          <a:p>
            <a:pPr marL="285750" indent="-285750" algn="just">
              <a:lnSpc>
                <a:spcPct val="150000"/>
              </a:lnSpc>
              <a:buFont typeface="Arial" panose="020B0604020202020204" pitchFamily="34" charset="0"/>
              <a:buChar char="•"/>
            </a:pPr>
            <a:r>
              <a:rPr lang="en-US" altLang="en-US" sz="2000" dirty="0">
                <a:latin typeface="Cambria" panose="02040503050406030204" pitchFamily="18" charset="0"/>
                <a:cs typeface="Cambria" panose="02040503050406030204" pitchFamily="18" charset="0"/>
              </a:rPr>
              <a:t>The generated dataset represents diverse </a:t>
            </a:r>
            <a:r>
              <a:rPr lang="en-US" altLang="en-US" sz="2000" dirty="0" err="1">
                <a:latin typeface="Cambria" panose="02040503050406030204" pitchFamily="18" charset="0"/>
                <a:cs typeface="Cambria" panose="02040503050406030204" pitchFamily="18" charset="0"/>
              </a:rPr>
              <a:t>DevSecOps</a:t>
            </a:r>
            <a:r>
              <a:rPr lang="en-US" altLang="en-US" sz="2000" dirty="0">
                <a:latin typeface="Cambria" panose="02040503050406030204" pitchFamily="18" charset="0"/>
                <a:cs typeface="Cambria" panose="02040503050406030204" pitchFamily="18" charset="0"/>
              </a:rPr>
              <a:t> security jobs with different severity levels, risk scores, vulnerability counts, and processing requirements, providing realistic input for queue simulation.</a:t>
            </a:r>
          </a:p>
        </p:txBody>
      </p:sp>
      <p:graphicFrame>
        <p:nvGraphicFramePr>
          <p:cNvPr id="4" name="Table 3">
            <a:extLst>
              <a:ext uri="{FF2B5EF4-FFF2-40B4-BE49-F238E27FC236}">
                <a16:creationId xmlns:a16="http://schemas.microsoft.com/office/drawing/2014/main" id="{8EC43B05-0BCD-D23D-92A1-9BA0BAEBB321}"/>
              </a:ext>
            </a:extLst>
          </p:cNvPr>
          <p:cNvGraphicFramePr>
            <a:graphicFrameLocks noGrp="1"/>
          </p:cNvGraphicFramePr>
          <p:nvPr>
            <p:extLst>
              <p:ext uri="{D42A27DB-BD31-4B8C-83A1-F6EECF244321}">
                <p14:modId xmlns:p14="http://schemas.microsoft.com/office/powerpoint/2010/main" val="2948884730"/>
              </p:ext>
            </p:extLst>
          </p:nvPr>
        </p:nvGraphicFramePr>
        <p:xfrm>
          <a:off x="137885" y="2343999"/>
          <a:ext cx="6518283" cy="2575276"/>
        </p:xfrm>
        <a:graphic>
          <a:graphicData uri="http://schemas.openxmlformats.org/drawingml/2006/table">
            <a:tbl>
              <a:tblPr firstRow="1" bandRow="1">
                <a:tableStyleId>{5C22544A-7EE6-4342-B048-85BDC9FD1C3A}</a:tableStyleId>
              </a:tblPr>
              <a:tblGrid>
                <a:gridCol w="725344">
                  <a:extLst>
                    <a:ext uri="{9D8B030D-6E8A-4147-A177-3AD203B41FA5}">
                      <a16:colId xmlns:a16="http://schemas.microsoft.com/office/drawing/2014/main" val="2562625178"/>
                    </a:ext>
                  </a:extLst>
                </a:gridCol>
                <a:gridCol w="1042339">
                  <a:extLst>
                    <a:ext uri="{9D8B030D-6E8A-4147-A177-3AD203B41FA5}">
                      <a16:colId xmlns:a16="http://schemas.microsoft.com/office/drawing/2014/main" val="3260855775"/>
                    </a:ext>
                  </a:extLst>
                </a:gridCol>
                <a:gridCol w="1068076">
                  <a:extLst>
                    <a:ext uri="{9D8B030D-6E8A-4147-A177-3AD203B41FA5}">
                      <a16:colId xmlns:a16="http://schemas.microsoft.com/office/drawing/2014/main" val="1417936073"/>
                    </a:ext>
                  </a:extLst>
                </a:gridCol>
                <a:gridCol w="1779787">
                  <a:extLst>
                    <a:ext uri="{9D8B030D-6E8A-4147-A177-3AD203B41FA5}">
                      <a16:colId xmlns:a16="http://schemas.microsoft.com/office/drawing/2014/main" val="876111676"/>
                    </a:ext>
                  </a:extLst>
                </a:gridCol>
                <a:gridCol w="1005512">
                  <a:extLst>
                    <a:ext uri="{9D8B030D-6E8A-4147-A177-3AD203B41FA5}">
                      <a16:colId xmlns:a16="http://schemas.microsoft.com/office/drawing/2014/main" val="2332942866"/>
                    </a:ext>
                  </a:extLst>
                </a:gridCol>
                <a:gridCol w="897225">
                  <a:extLst>
                    <a:ext uri="{9D8B030D-6E8A-4147-A177-3AD203B41FA5}">
                      <a16:colId xmlns:a16="http://schemas.microsoft.com/office/drawing/2014/main" val="4167183735"/>
                    </a:ext>
                  </a:extLst>
                </a:gridCol>
              </a:tblGrid>
              <a:tr h="777600">
                <a:tc>
                  <a:txBody>
                    <a:bodyPr/>
                    <a:lstStyle/>
                    <a:p>
                      <a:pPr algn="ctr"/>
                      <a:r>
                        <a:rPr lang="en-IN" sz="1600" dirty="0"/>
                        <a:t>Job ID</a:t>
                      </a:r>
                    </a:p>
                  </a:txBody>
                  <a:tcPr/>
                </a:tc>
                <a:tc>
                  <a:txBody>
                    <a:bodyPr/>
                    <a:lstStyle/>
                    <a:p>
                      <a:pPr algn="ctr"/>
                      <a:r>
                        <a:rPr lang="en-IN" sz="1600" dirty="0"/>
                        <a:t>Severity</a:t>
                      </a:r>
                    </a:p>
                  </a:txBody>
                  <a:tcPr/>
                </a:tc>
                <a:tc>
                  <a:txBody>
                    <a:bodyPr/>
                    <a:lstStyle/>
                    <a:p>
                      <a:pPr algn="ctr"/>
                      <a:r>
                        <a:rPr lang="en-IN" sz="1600" dirty="0"/>
                        <a:t>Risk Score </a:t>
                      </a:r>
                    </a:p>
                  </a:txBody>
                  <a:tcPr/>
                </a:tc>
                <a:tc>
                  <a:txBody>
                    <a:bodyPr/>
                    <a:lstStyle/>
                    <a:p>
                      <a:pPr algn="ctr"/>
                      <a:r>
                        <a:rPr lang="en-IN" sz="1600" dirty="0"/>
                        <a:t>Vulnerabilities</a:t>
                      </a:r>
                    </a:p>
                  </a:txBody>
                  <a:tcPr/>
                </a:tc>
                <a:tc>
                  <a:txBody>
                    <a:bodyPr/>
                    <a:lstStyle/>
                    <a:p>
                      <a:pPr algn="ctr"/>
                      <a:r>
                        <a:rPr lang="en-IN" sz="1600" dirty="0"/>
                        <a:t>Business Impact</a:t>
                      </a:r>
                    </a:p>
                  </a:txBody>
                  <a:tcPr/>
                </a:tc>
                <a:tc>
                  <a:txBody>
                    <a:bodyPr/>
                    <a:lstStyle/>
                    <a:p>
                      <a:pPr algn="ctr"/>
                      <a:r>
                        <a:rPr lang="en-IN" sz="1600" dirty="0"/>
                        <a:t>Service </a:t>
                      </a:r>
                    </a:p>
                    <a:p>
                      <a:pPr algn="ctr"/>
                      <a:r>
                        <a:rPr lang="en-IN" sz="1600" dirty="0"/>
                        <a:t>Time </a:t>
                      </a:r>
                    </a:p>
                  </a:txBody>
                  <a:tcPr/>
                </a:tc>
                <a:extLst>
                  <a:ext uri="{0D108BD9-81ED-4DB2-BD59-A6C34878D82A}">
                    <a16:rowId xmlns:a16="http://schemas.microsoft.com/office/drawing/2014/main" val="3143791548"/>
                  </a:ext>
                </a:extLst>
              </a:tr>
              <a:tr h="315360">
                <a:tc>
                  <a:txBody>
                    <a:bodyPr/>
                    <a:lstStyle/>
                    <a:p>
                      <a:pPr algn="ctr"/>
                      <a:r>
                        <a:rPr lang="en-IN" sz="1600" dirty="0"/>
                        <a:t>1</a:t>
                      </a:r>
                    </a:p>
                  </a:txBody>
                  <a:tcPr/>
                </a:tc>
                <a:tc>
                  <a:txBody>
                    <a:bodyPr/>
                    <a:lstStyle/>
                    <a:p>
                      <a:pPr algn="ctr"/>
                      <a:r>
                        <a:rPr lang="en-IN" sz="1600" dirty="0"/>
                        <a:t>Critical </a:t>
                      </a:r>
                    </a:p>
                  </a:txBody>
                  <a:tcPr/>
                </a:tc>
                <a:tc>
                  <a:txBody>
                    <a:bodyPr/>
                    <a:lstStyle/>
                    <a:p>
                      <a:pPr algn="ctr"/>
                      <a:r>
                        <a:rPr lang="en-IN" sz="1600" dirty="0"/>
                        <a:t>95</a:t>
                      </a:r>
                    </a:p>
                  </a:txBody>
                  <a:tcPr/>
                </a:tc>
                <a:tc>
                  <a:txBody>
                    <a:bodyPr/>
                    <a:lstStyle/>
                    <a:p>
                      <a:pPr algn="ctr"/>
                      <a:r>
                        <a:rPr lang="en-IN" sz="1600" dirty="0"/>
                        <a:t>8</a:t>
                      </a:r>
                    </a:p>
                  </a:txBody>
                  <a:tcPr/>
                </a:tc>
                <a:tc>
                  <a:txBody>
                    <a:bodyPr/>
                    <a:lstStyle/>
                    <a:p>
                      <a:pPr algn="ctr"/>
                      <a:r>
                        <a:rPr lang="en-IN" sz="1600" dirty="0"/>
                        <a:t>90</a:t>
                      </a:r>
                    </a:p>
                  </a:txBody>
                  <a:tcPr/>
                </a:tc>
                <a:tc>
                  <a:txBody>
                    <a:bodyPr/>
                    <a:lstStyle/>
                    <a:p>
                      <a:pPr algn="ctr"/>
                      <a:r>
                        <a:rPr lang="en-IN" sz="1600" dirty="0"/>
                        <a:t>6.2</a:t>
                      </a:r>
                    </a:p>
                  </a:txBody>
                  <a:tcPr/>
                </a:tc>
                <a:extLst>
                  <a:ext uri="{0D108BD9-81ED-4DB2-BD59-A6C34878D82A}">
                    <a16:rowId xmlns:a16="http://schemas.microsoft.com/office/drawing/2014/main" val="3427549672"/>
                  </a:ext>
                </a:extLst>
              </a:tr>
              <a:tr h="315360">
                <a:tc>
                  <a:txBody>
                    <a:bodyPr/>
                    <a:lstStyle/>
                    <a:p>
                      <a:pPr algn="ctr"/>
                      <a:r>
                        <a:rPr lang="en-IN" sz="1600" dirty="0"/>
                        <a:t>2</a:t>
                      </a:r>
                    </a:p>
                  </a:txBody>
                  <a:tcPr/>
                </a:tc>
                <a:tc>
                  <a:txBody>
                    <a:bodyPr/>
                    <a:lstStyle/>
                    <a:p>
                      <a:pPr algn="ctr"/>
                      <a:r>
                        <a:rPr lang="en-IN" sz="1600" dirty="0"/>
                        <a:t> High</a:t>
                      </a:r>
                    </a:p>
                  </a:txBody>
                  <a:tcPr/>
                </a:tc>
                <a:tc>
                  <a:txBody>
                    <a:bodyPr/>
                    <a:lstStyle/>
                    <a:p>
                      <a:pPr algn="ctr"/>
                      <a:r>
                        <a:rPr lang="en-IN" sz="1600" dirty="0"/>
                        <a:t>82</a:t>
                      </a:r>
                    </a:p>
                  </a:txBody>
                  <a:tcPr/>
                </a:tc>
                <a:tc>
                  <a:txBody>
                    <a:bodyPr/>
                    <a:lstStyle/>
                    <a:p>
                      <a:pPr algn="ctr"/>
                      <a:r>
                        <a:rPr lang="en-IN" sz="1600" dirty="0"/>
                        <a:t>5</a:t>
                      </a:r>
                    </a:p>
                  </a:txBody>
                  <a:tcPr/>
                </a:tc>
                <a:tc>
                  <a:txBody>
                    <a:bodyPr/>
                    <a:lstStyle/>
                    <a:p>
                      <a:pPr algn="ctr"/>
                      <a:r>
                        <a:rPr lang="en-IN" sz="1600" dirty="0"/>
                        <a:t>75</a:t>
                      </a:r>
                    </a:p>
                  </a:txBody>
                  <a:tcPr/>
                </a:tc>
                <a:tc>
                  <a:txBody>
                    <a:bodyPr/>
                    <a:lstStyle/>
                    <a:p>
                      <a:pPr algn="ctr"/>
                      <a:r>
                        <a:rPr lang="en-IN" sz="1600" dirty="0"/>
                        <a:t>4.8</a:t>
                      </a:r>
                    </a:p>
                  </a:txBody>
                  <a:tcPr/>
                </a:tc>
                <a:extLst>
                  <a:ext uri="{0D108BD9-81ED-4DB2-BD59-A6C34878D82A}">
                    <a16:rowId xmlns:a16="http://schemas.microsoft.com/office/drawing/2014/main" val="927198384"/>
                  </a:ext>
                </a:extLst>
              </a:tr>
              <a:tr h="456556">
                <a:tc>
                  <a:txBody>
                    <a:bodyPr/>
                    <a:lstStyle/>
                    <a:p>
                      <a:pPr algn="ctr"/>
                      <a:r>
                        <a:rPr lang="en-IN" sz="1600" dirty="0"/>
                        <a:t>3</a:t>
                      </a:r>
                    </a:p>
                  </a:txBody>
                  <a:tcPr/>
                </a:tc>
                <a:tc>
                  <a:txBody>
                    <a:bodyPr/>
                    <a:lstStyle/>
                    <a:p>
                      <a:pPr algn="ctr"/>
                      <a:r>
                        <a:rPr lang="en-IN" sz="1600" dirty="0"/>
                        <a:t>Medium </a:t>
                      </a:r>
                    </a:p>
                  </a:txBody>
                  <a:tcPr/>
                </a:tc>
                <a:tc>
                  <a:txBody>
                    <a:bodyPr/>
                    <a:lstStyle/>
                    <a:p>
                      <a:pPr algn="ctr"/>
                      <a:r>
                        <a:rPr lang="en-IN" sz="1600" dirty="0"/>
                        <a:t>60</a:t>
                      </a:r>
                    </a:p>
                  </a:txBody>
                  <a:tcPr/>
                </a:tc>
                <a:tc>
                  <a:txBody>
                    <a:bodyPr/>
                    <a:lstStyle/>
                    <a:p>
                      <a:pPr algn="ctr"/>
                      <a:r>
                        <a:rPr lang="en-IN" sz="1600" dirty="0"/>
                        <a:t>3</a:t>
                      </a:r>
                    </a:p>
                  </a:txBody>
                  <a:tcPr/>
                </a:tc>
                <a:tc>
                  <a:txBody>
                    <a:bodyPr/>
                    <a:lstStyle/>
                    <a:p>
                      <a:pPr algn="ctr"/>
                      <a:r>
                        <a:rPr lang="en-IN" sz="1600" dirty="0"/>
                        <a:t>55</a:t>
                      </a:r>
                    </a:p>
                  </a:txBody>
                  <a:tcPr/>
                </a:tc>
                <a:tc>
                  <a:txBody>
                    <a:bodyPr/>
                    <a:lstStyle/>
                    <a:p>
                      <a:pPr algn="ctr"/>
                      <a:r>
                        <a:rPr lang="en-IN" sz="1600" dirty="0"/>
                        <a:t>3.5</a:t>
                      </a:r>
                    </a:p>
                  </a:txBody>
                  <a:tcPr/>
                </a:tc>
                <a:extLst>
                  <a:ext uri="{0D108BD9-81ED-4DB2-BD59-A6C34878D82A}">
                    <a16:rowId xmlns:a16="http://schemas.microsoft.com/office/drawing/2014/main" val="3375604521"/>
                  </a:ext>
                </a:extLst>
              </a:tr>
              <a:tr h="315360">
                <a:tc>
                  <a:txBody>
                    <a:bodyPr/>
                    <a:lstStyle/>
                    <a:p>
                      <a:pPr algn="ctr"/>
                      <a:r>
                        <a:rPr lang="en-IN" sz="1600" dirty="0"/>
                        <a:t>4</a:t>
                      </a:r>
                    </a:p>
                  </a:txBody>
                  <a:tcPr/>
                </a:tc>
                <a:tc>
                  <a:txBody>
                    <a:bodyPr/>
                    <a:lstStyle/>
                    <a:p>
                      <a:pPr algn="ctr"/>
                      <a:r>
                        <a:rPr lang="en-IN" sz="1600" dirty="0"/>
                        <a:t>Low </a:t>
                      </a:r>
                    </a:p>
                  </a:txBody>
                  <a:tcPr/>
                </a:tc>
                <a:tc>
                  <a:txBody>
                    <a:bodyPr/>
                    <a:lstStyle/>
                    <a:p>
                      <a:pPr algn="ctr"/>
                      <a:r>
                        <a:rPr lang="en-IN" sz="1600" dirty="0"/>
                        <a:t>35</a:t>
                      </a:r>
                    </a:p>
                  </a:txBody>
                  <a:tcPr/>
                </a:tc>
                <a:tc>
                  <a:txBody>
                    <a:bodyPr/>
                    <a:lstStyle/>
                    <a:p>
                      <a:pPr algn="ctr"/>
                      <a:r>
                        <a:rPr lang="en-IN" sz="1600" dirty="0"/>
                        <a:t>1</a:t>
                      </a:r>
                    </a:p>
                  </a:txBody>
                  <a:tcPr/>
                </a:tc>
                <a:tc>
                  <a:txBody>
                    <a:bodyPr/>
                    <a:lstStyle/>
                    <a:p>
                      <a:pPr algn="ctr"/>
                      <a:r>
                        <a:rPr lang="en-IN" sz="1600" dirty="0"/>
                        <a:t>30</a:t>
                      </a:r>
                    </a:p>
                  </a:txBody>
                  <a:tcPr/>
                </a:tc>
                <a:tc>
                  <a:txBody>
                    <a:bodyPr/>
                    <a:lstStyle/>
                    <a:p>
                      <a:pPr algn="ctr"/>
                      <a:r>
                        <a:rPr lang="en-IN" sz="1600" dirty="0"/>
                        <a:t>2.1</a:t>
                      </a:r>
                    </a:p>
                  </a:txBody>
                  <a:tcPr/>
                </a:tc>
                <a:extLst>
                  <a:ext uri="{0D108BD9-81ED-4DB2-BD59-A6C34878D82A}">
                    <a16:rowId xmlns:a16="http://schemas.microsoft.com/office/drawing/2014/main" val="3788314196"/>
                  </a:ext>
                </a:extLst>
              </a:tr>
              <a:tr h="315360">
                <a:tc>
                  <a:txBody>
                    <a:bodyPr/>
                    <a:lstStyle/>
                    <a:p>
                      <a:pPr algn="ctr"/>
                      <a:r>
                        <a:rPr lang="en-IN" sz="1600" dirty="0"/>
                        <a:t>5</a:t>
                      </a:r>
                    </a:p>
                  </a:txBody>
                  <a:tcPr/>
                </a:tc>
                <a:tc>
                  <a:txBody>
                    <a:bodyPr/>
                    <a:lstStyle/>
                    <a:p>
                      <a:pPr algn="ctr"/>
                      <a:r>
                        <a:rPr lang="en-IN" sz="1600" dirty="0"/>
                        <a:t> High</a:t>
                      </a:r>
                    </a:p>
                  </a:txBody>
                  <a:tcPr/>
                </a:tc>
                <a:tc>
                  <a:txBody>
                    <a:bodyPr/>
                    <a:lstStyle/>
                    <a:p>
                      <a:pPr algn="ctr"/>
                      <a:r>
                        <a:rPr lang="en-IN" sz="1600" dirty="0"/>
                        <a:t>78</a:t>
                      </a:r>
                    </a:p>
                  </a:txBody>
                  <a:tcPr/>
                </a:tc>
                <a:tc>
                  <a:txBody>
                    <a:bodyPr/>
                    <a:lstStyle/>
                    <a:p>
                      <a:pPr algn="ctr"/>
                      <a:r>
                        <a:rPr lang="en-IN" sz="1600" dirty="0"/>
                        <a:t>6</a:t>
                      </a:r>
                    </a:p>
                  </a:txBody>
                  <a:tcPr/>
                </a:tc>
                <a:tc>
                  <a:txBody>
                    <a:bodyPr/>
                    <a:lstStyle/>
                    <a:p>
                      <a:pPr algn="ctr"/>
                      <a:r>
                        <a:rPr lang="en-IN" sz="1600" dirty="0"/>
                        <a:t>80</a:t>
                      </a:r>
                    </a:p>
                  </a:txBody>
                  <a:tcPr/>
                </a:tc>
                <a:tc>
                  <a:txBody>
                    <a:bodyPr/>
                    <a:lstStyle/>
                    <a:p>
                      <a:pPr algn="ctr"/>
                      <a:r>
                        <a:rPr lang="en-IN" sz="1600" dirty="0"/>
                        <a:t>5.0</a:t>
                      </a:r>
                    </a:p>
                  </a:txBody>
                  <a:tcPr/>
                </a:tc>
                <a:extLst>
                  <a:ext uri="{0D108BD9-81ED-4DB2-BD59-A6C34878D82A}">
                    <a16:rowId xmlns:a16="http://schemas.microsoft.com/office/drawing/2014/main" val="350920875"/>
                  </a:ext>
                </a:extLst>
              </a:tr>
            </a:tbl>
          </a:graphicData>
        </a:graphic>
      </p:graphicFrame>
      <p:pic>
        <p:nvPicPr>
          <p:cNvPr id="7" name="Picture 6">
            <a:extLst>
              <a:ext uri="{FF2B5EF4-FFF2-40B4-BE49-F238E27FC236}">
                <a16:creationId xmlns:a16="http://schemas.microsoft.com/office/drawing/2014/main" id="{221D2403-9CAE-CCD9-A04B-95ABFAA17012}"/>
              </a:ext>
            </a:extLst>
          </p:cNvPr>
          <p:cNvPicPr>
            <a:picLocks noChangeAspect="1"/>
          </p:cNvPicPr>
          <p:nvPr/>
        </p:nvPicPr>
        <p:blipFill>
          <a:blip r:embed="rId2"/>
          <a:stretch>
            <a:fillRect/>
          </a:stretch>
        </p:blipFill>
        <p:spPr>
          <a:xfrm>
            <a:off x="6656167" y="1812211"/>
            <a:ext cx="5532657" cy="348196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DA38C-61F7-EDC5-4B5D-4C4D00752E86}"/>
            </a:ext>
          </a:extLst>
        </p:cNvPr>
        <p:cNvGrpSpPr/>
        <p:nvPr/>
      </p:nvGrpSpPr>
      <p:grpSpPr>
        <a:xfrm>
          <a:off x="0" y="0"/>
          <a:ext cx="0" cy="0"/>
          <a:chOff x="0" y="0"/>
          <a:chExt cx="0" cy="0"/>
        </a:xfrm>
      </p:grpSpPr>
      <p:sp>
        <p:nvSpPr>
          <p:cNvPr id="2" name="Text Box 1">
            <a:extLst>
              <a:ext uri="{FF2B5EF4-FFF2-40B4-BE49-F238E27FC236}">
                <a16:creationId xmlns:a16="http://schemas.microsoft.com/office/drawing/2014/main" id="{07C62881-34B4-257B-2E6E-6AC505E23F66}"/>
              </a:ext>
            </a:extLst>
          </p:cNvPr>
          <p:cNvSpPr txBox="1"/>
          <p:nvPr/>
        </p:nvSpPr>
        <p:spPr>
          <a:xfrm>
            <a:off x="2190819" y="1254193"/>
            <a:ext cx="8917814" cy="584775"/>
          </a:xfrm>
          <a:prstGeom prst="rect">
            <a:avLst/>
          </a:prstGeom>
        </p:spPr>
        <p:txBody>
          <a:bodyPr wrap="square">
            <a:spAutoFit/>
          </a:bodyPr>
          <a:lstStyle/>
          <a:p>
            <a:r>
              <a:rPr lang="en-US" altLang="en-US" sz="3200" b="1" dirty="0">
                <a:solidFill>
                  <a:schemeClr val="accent1">
                    <a:lumMod val="75000"/>
                  </a:schemeClr>
                </a:solidFill>
                <a:latin typeface="Cambria" panose="02040503050406030204" pitchFamily="18" charset="0"/>
                <a:ea typeface="Microsoft YaHei" panose="020B0503020204020204" charset="-122"/>
                <a:cs typeface="Cambria" panose="02040503050406030204" pitchFamily="18" charset="0"/>
              </a:rPr>
              <a:t>Discussion: Comparison with Existing Work</a:t>
            </a:r>
            <a:endParaRPr lang="en-IN" altLang="en-US" sz="3200" b="1" dirty="0">
              <a:solidFill>
                <a:schemeClr val="accent1">
                  <a:lumMod val="75000"/>
                </a:schemeClr>
              </a:solidFill>
              <a:latin typeface="Cambria" panose="02040503050406030204" pitchFamily="18" charset="0"/>
              <a:ea typeface="Microsoft YaHei" panose="020B0503020204020204" charset="-122"/>
              <a:cs typeface="Cambria" panose="02040503050406030204" pitchFamily="18" charset="0"/>
            </a:endParaRPr>
          </a:p>
        </p:txBody>
      </p:sp>
      <p:sp>
        <p:nvSpPr>
          <p:cNvPr id="3" name="Text Box 2">
            <a:extLst>
              <a:ext uri="{FF2B5EF4-FFF2-40B4-BE49-F238E27FC236}">
                <a16:creationId xmlns:a16="http://schemas.microsoft.com/office/drawing/2014/main" id="{DA20A4CC-B6E8-F319-3FCF-CBEBE7A7AFA0}"/>
              </a:ext>
            </a:extLst>
          </p:cNvPr>
          <p:cNvSpPr txBox="1"/>
          <p:nvPr/>
        </p:nvSpPr>
        <p:spPr>
          <a:xfrm>
            <a:off x="207421" y="5019032"/>
            <a:ext cx="11773981" cy="1419675"/>
          </a:xfrm>
          <a:prstGeom prst="rect">
            <a:avLst/>
          </a:prstGeom>
          <a:noFill/>
        </p:spPr>
        <p:txBody>
          <a:bodyPr wrap="square" rtlCol="0">
            <a:noAutofit/>
          </a:bodyPr>
          <a:lstStyle/>
          <a:p>
            <a:pPr marL="285750" indent="-285750">
              <a:lnSpc>
                <a:spcPct val="150000"/>
              </a:lnSpc>
              <a:buFont typeface="Arial" panose="020B0604020202020204" pitchFamily="34" charset="0"/>
              <a:buChar char="•"/>
            </a:pPr>
            <a:r>
              <a:rPr lang="en-US" altLang="en-US" sz="2400" dirty="0">
                <a:latin typeface="Cambria" panose="02040503050406030204" pitchFamily="18" charset="0"/>
                <a:cs typeface="Cambria" panose="02040503050406030204" pitchFamily="18" charset="0"/>
              </a:rPr>
              <a:t>The comparison evaluates </a:t>
            </a:r>
            <a:r>
              <a:rPr lang="en-US" altLang="en-US" sz="2400" dirty="0" err="1">
                <a:latin typeface="Cambria" panose="02040503050406030204" pitchFamily="18" charset="0"/>
                <a:cs typeface="Cambria" panose="02040503050406030204" pitchFamily="18" charset="0"/>
              </a:rPr>
              <a:t>GatekeeperX</a:t>
            </a:r>
            <a:r>
              <a:rPr lang="en-US" altLang="en-US" sz="2400" dirty="0">
                <a:latin typeface="Cambria" panose="02040503050406030204" pitchFamily="18" charset="0"/>
                <a:cs typeface="Cambria" panose="02040503050406030204" pitchFamily="18" charset="0"/>
              </a:rPr>
              <a:t> against FCFS and Static Priority using the same security workload. The results demonstrate how dynamic aging and risk-based prioritization influence queue performance and fairness.</a:t>
            </a:r>
          </a:p>
        </p:txBody>
      </p:sp>
      <p:graphicFrame>
        <p:nvGraphicFramePr>
          <p:cNvPr id="4" name="Table 3">
            <a:extLst>
              <a:ext uri="{FF2B5EF4-FFF2-40B4-BE49-F238E27FC236}">
                <a16:creationId xmlns:a16="http://schemas.microsoft.com/office/drawing/2014/main" id="{F40DCDAE-74EC-0200-0D03-886C0BCB8DA0}"/>
              </a:ext>
            </a:extLst>
          </p:cNvPr>
          <p:cNvGraphicFramePr>
            <a:graphicFrameLocks noGrp="1"/>
          </p:cNvGraphicFramePr>
          <p:nvPr>
            <p:extLst>
              <p:ext uri="{D42A27DB-BD31-4B8C-83A1-F6EECF244321}">
                <p14:modId xmlns:p14="http://schemas.microsoft.com/office/powerpoint/2010/main" val="3338749925"/>
              </p:ext>
            </p:extLst>
          </p:nvPr>
        </p:nvGraphicFramePr>
        <p:xfrm>
          <a:off x="207421" y="2539215"/>
          <a:ext cx="5035139" cy="1592943"/>
        </p:xfrm>
        <a:graphic>
          <a:graphicData uri="http://schemas.openxmlformats.org/drawingml/2006/table">
            <a:tbl>
              <a:tblPr firstRow="1" bandRow="1">
                <a:tableStyleId>{5C22544A-7EE6-4342-B048-85BDC9FD1C3A}</a:tableStyleId>
              </a:tblPr>
              <a:tblGrid>
                <a:gridCol w="1660226">
                  <a:extLst>
                    <a:ext uri="{9D8B030D-6E8A-4147-A177-3AD203B41FA5}">
                      <a16:colId xmlns:a16="http://schemas.microsoft.com/office/drawing/2014/main" val="3260855775"/>
                    </a:ext>
                  </a:extLst>
                </a:gridCol>
                <a:gridCol w="3374913">
                  <a:extLst>
                    <a:ext uri="{9D8B030D-6E8A-4147-A177-3AD203B41FA5}">
                      <a16:colId xmlns:a16="http://schemas.microsoft.com/office/drawing/2014/main" val="1417936073"/>
                    </a:ext>
                  </a:extLst>
                </a:gridCol>
              </a:tblGrid>
              <a:tr h="368722">
                <a:tc>
                  <a:txBody>
                    <a:bodyPr/>
                    <a:lstStyle/>
                    <a:p>
                      <a:r>
                        <a:rPr lang="en-IN" sz="2000" dirty="0"/>
                        <a:t>Model</a:t>
                      </a:r>
                    </a:p>
                  </a:txBody>
                  <a:tcPr/>
                </a:tc>
                <a:tc>
                  <a:txBody>
                    <a:bodyPr/>
                    <a:lstStyle/>
                    <a:p>
                      <a:r>
                        <a:rPr lang="en-IN" sz="2000" dirty="0"/>
                        <a:t>Performance</a:t>
                      </a:r>
                    </a:p>
                  </a:txBody>
                  <a:tcPr/>
                </a:tc>
                <a:extLst>
                  <a:ext uri="{0D108BD9-81ED-4DB2-BD59-A6C34878D82A}">
                    <a16:rowId xmlns:a16="http://schemas.microsoft.com/office/drawing/2014/main" val="3143791548"/>
                  </a:ext>
                </a:extLst>
              </a:tr>
              <a:tr h="315360">
                <a:tc>
                  <a:txBody>
                    <a:bodyPr/>
                    <a:lstStyle/>
                    <a:p>
                      <a:r>
                        <a:rPr lang="en-IN" sz="2000" dirty="0"/>
                        <a:t>FCFS</a:t>
                      </a:r>
                    </a:p>
                  </a:txBody>
                  <a:tcPr/>
                </a:tc>
                <a:tc>
                  <a:txBody>
                    <a:bodyPr/>
                    <a:lstStyle/>
                    <a:p>
                      <a:r>
                        <a:rPr lang="en-IN" sz="2000" dirty="0"/>
                        <a:t>Baseline</a:t>
                      </a:r>
                    </a:p>
                  </a:txBody>
                  <a:tcPr/>
                </a:tc>
                <a:extLst>
                  <a:ext uri="{0D108BD9-81ED-4DB2-BD59-A6C34878D82A}">
                    <a16:rowId xmlns:a16="http://schemas.microsoft.com/office/drawing/2014/main" val="3427549672"/>
                  </a:ext>
                </a:extLst>
              </a:tr>
              <a:tr h="315360">
                <a:tc>
                  <a:txBody>
                    <a:bodyPr/>
                    <a:lstStyle/>
                    <a:p>
                      <a:r>
                        <a:rPr lang="en-IN" sz="2000" dirty="0"/>
                        <a:t> Static Priority</a:t>
                      </a:r>
                    </a:p>
                  </a:txBody>
                  <a:tcPr/>
                </a:tc>
                <a:tc>
                  <a:txBody>
                    <a:bodyPr/>
                    <a:lstStyle/>
                    <a:p>
                      <a:r>
                        <a:rPr lang="en-IN" sz="2000" dirty="0"/>
                        <a:t>Improved Prioritization</a:t>
                      </a:r>
                    </a:p>
                  </a:txBody>
                  <a:tcPr/>
                </a:tc>
                <a:extLst>
                  <a:ext uri="{0D108BD9-81ED-4DB2-BD59-A6C34878D82A}">
                    <a16:rowId xmlns:a16="http://schemas.microsoft.com/office/drawing/2014/main" val="927198384"/>
                  </a:ext>
                </a:extLst>
              </a:tr>
              <a:tr h="404223">
                <a:tc>
                  <a:txBody>
                    <a:bodyPr/>
                    <a:lstStyle/>
                    <a:p>
                      <a:r>
                        <a:rPr lang="en-IN" sz="2000" dirty="0" err="1"/>
                        <a:t>GatekeeperX</a:t>
                      </a:r>
                      <a:endParaRPr lang="en-IN" sz="2000" dirty="0"/>
                    </a:p>
                  </a:txBody>
                  <a:tcPr/>
                </a:tc>
                <a:tc>
                  <a:txBody>
                    <a:bodyPr/>
                    <a:lstStyle/>
                    <a:p>
                      <a:r>
                        <a:rPr lang="en-IN" sz="2000" dirty="0"/>
                        <a:t>Dynamic Risk-based </a:t>
                      </a:r>
                      <a:r>
                        <a:rPr lang="en-IN" sz="2000" dirty="0" err="1"/>
                        <a:t>Processig</a:t>
                      </a:r>
                      <a:endParaRPr lang="en-IN" sz="2000" dirty="0"/>
                    </a:p>
                  </a:txBody>
                  <a:tcPr/>
                </a:tc>
                <a:extLst>
                  <a:ext uri="{0D108BD9-81ED-4DB2-BD59-A6C34878D82A}">
                    <a16:rowId xmlns:a16="http://schemas.microsoft.com/office/drawing/2014/main" val="3375604521"/>
                  </a:ext>
                </a:extLst>
              </a:tr>
            </a:tbl>
          </a:graphicData>
        </a:graphic>
      </p:graphicFrame>
      <p:pic>
        <p:nvPicPr>
          <p:cNvPr id="6" name="Picture 5">
            <a:extLst>
              <a:ext uri="{FF2B5EF4-FFF2-40B4-BE49-F238E27FC236}">
                <a16:creationId xmlns:a16="http://schemas.microsoft.com/office/drawing/2014/main" id="{9EE354B4-640B-4639-7BC6-071DB04F935C}"/>
              </a:ext>
            </a:extLst>
          </p:cNvPr>
          <p:cNvPicPr>
            <a:picLocks noChangeAspect="1"/>
          </p:cNvPicPr>
          <p:nvPr/>
        </p:nvPicPr>
        <p:blipFill>
          <a:blip r:embed="rId2"/>
          <a:stretch>
            <a:fillRect/>
          </a:stretch>
        </p:blipFill>
        <p:spPr>
          <a:xfrm>
            <a:off x="5455920" y="1950720"/>
            <a:ext cx="6634480" cy="3149600"/>
          </a:xfrm>
          <a:prstGeom prst="rect">
            <a:avLst/>
          </a:prstGeom>
        </p:spPr>
      </p:pic>
    </p:spTree>
    <p:extLst>
      <p:ext uri="{BB962C8B-B14F-4D97-AF65-F5344CB8AC3E}">
        <p14:creationId xmlns:p14="http://schemas.microsoft.com/office/powerpoint/2010/main" val="890559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E0497-7E84-5A1B-7557-2F0610EEC631}"/>
            </a:ext>
          </a:extLst>
        </p:cNvPr>
        <p:cNvGrpSpPr/>
        <p:nvPr/>
      </p:nvGrpSpPr>
      <p:grpSpPr>
        <a:xfrm>
          <a:off x="0" y="0"/>
          <a:ext cx="0" cy="0"/>
          <a:chOff x="0" y="0"/>
          <a:chExt cx="0" cy="0"/>
        </a:xfrm>
      </p:grpSpPr>
      <p:sp>
        <p:nvSpPr>
          <p:cNvPr id="2" name="Text Box 1">
            <a:extLst>
              <a:ext uri="{FF2B5EF4-FFF2-40B4-BE49-F238E27FC236}">
                <a16:creationId xmlns:a16="http://schemas.microsoft.com/office/drawing/2014/main" id="{37CF54A3-ABF4-01B5-BC8E-0D32633C12E8}"/>
              </a:ext>
            </a:extLst>
          </p:cNvPr>
          <p:cNvSpPr txBox="1"/>
          <p:nvPr/>
        </p:nvSpPr>
        <p:spPr>
          <a:xfrm>
            <a:off x="2469563" y="1234426"/>
            <a:ext cx="7737377" cy="584775"/>
          </a:xfrm>
          <a:prstGeom prst="rect">
            <a:avLst/>
          </a:prstGeom>
        </p:spPr>
        <p:txBody>
          <a:bodyPr wrap="square">
            <a:spAutoFit/>
          </a:bodyPr>
          <a:lstStyle/>
          <a:p>
            <a:r>
              <a:rPr lang="en-IN" altLang="en-US" sz="3200" b="1" dirty="0">
                <a:solidFill>
                  <a:schemeClr val="accent1">
                    <a:lumMod val="75000"/>
                  </a:schemeClr>
                </a:solidFill>
                <a:latin typeface="Cambria" panose="02040503050406030204" pitchFamily="18" charset="0"/>
                <a:ea typeface="Microsoft YaHei" panose="020B0503020204020204" charset="-122"/>
                <a:cs typeface="Cambria" panose="02040503050406030204" pitchFamily="18" charset="0"/>
              </a:rPr>
              <a:t>Discussion: Module 2 </a:t>
            </a:r>
            <a:r>
              <a:rPr lang="en-IN" altLang="en-US" sz="3200" b="1" dirty="0" err="1">
                <a:solidFill>
                  <a:schemeClr val="accent1">
                    <a:lumMod val="75000"/>
                  </a:schemeClr>
                </a:solidFill>
                <a:latin typeface="Cambria" panose="02040503050406030204" pitchFamily="18" charset="0"/>
                <a:ea typeface="Microsoft YaHei" panose="020B0503020204020204" charset="-122"/>
                <a:cs typeface="Cambria" panose="02040503050406030204" pitchFamily="18" charset="0"/>
              </a:rPr>
              <a:t>Modeling</a:t>
            </a:r>
            <a:r>
              <a:rPr lang="en-IN" altLang="en-US" sz="3200" b="1" dirty="0">
                <a:solidFill>
                  <a:schemeClr val="accent1">
                    <a:lumMod val="75000"/>
                  </a:schemeClr>
                </a:solidFill>
                <a:latin typeface="Cambria" panose="02040503050406030204" pitchFamily="18" charset="0"/>
                <a:ea typeface="Microsoft YaHei" panose="020B0503020204020204" charset="-122"/>
                <a:cs typeface="Cambria" panose="02040503050406030204" pitchFamily="18" charset="0"/>
              </a:rPr>
              <a:t> Analysis</a:t>
            </a:r>
          </a:p>
        </p:txBody>
      </p:sp>
      <p:sp>
        <p:nvSpPr>
          <p:cNvPr id="3" name="Text Box 2">
            <a:extLst>
              <a:ext uri="{FF2B5EF4-FFF2-40B4-BE49-F238E27FC236}">
                <a16:creationId xmlns:a16="http://schemas.microsoft.com/office/drawing/2014/main" id="{45478C27-3AF9-BAA9-B493-5F330BF80674}"/>
              </a:ext>
            </a:extLst>
          </p:cNvPr>
          <p:cNvSpPr txBox="1"/>
          <p:nvPr/>
        </p:nvSpPr>
        <p:spPr>
          <a:xfrm>
            <a:off x="0" y="5038799"/>
            <a:ext cx="11811980" cy="1419675"/>
          </a:xfrm>
          <a:prstGeom prst="rect">
            <a:avLst/>
          </a:prstGeom>
          <a:noFill/>
        </p:spPr>
        <p:txBody>
          <a:bodyPr wrap="square" rtlCol="0">
            <a:noAutofit/>
          </a:bodyPr>
          <a:lstStyle/>
          <a:p>
            <a:pPr marL="285750" indent="-285750">
              <a:lnSpc>
                <a:spcPct val="150000"/>
              </a:lnSpc>
              <a:buFont typeface="Arial" panose="020B0604020202020204" pitchFamily="34" charset="0"/>
              <a:buChar char="•"/>
            </a:pPr>
            <a:r>
              <a:rPr lang="en-US" altLang="en-US" sz="2400" b="1" dirty="0">
                <a:latin typeface="Cambria" panose="02040503050406030204" pitchFamily="18" charset="0"/>
                <a:cs typeface="Cambria" panose="02040503050406030204" pitchFamily="18" charset="0"/>
              </a:rPr>
              <a:t>Module 2 : </a:t>
            </a:r>
            <a:r>
              <a:rPr lang="en-US" altLang="en-US" sz="2400" dirty="0">
                <a:latin typeface="Cambria" panose="02040503050406030204" pitchFamily="18" charset="0"/>
                <a:cs typeface="Cambria" panose="02040503050406030204" pitchFamily="18" charset="0"/>
              </a:rPr>
              <a:t>Transforms raw security-job parameters into structured priority scores and classes, enabling </a:t>
            </a:r>
            <a:r>
              <a:rPr lang="en-US" altLang="en-US" sz="2400" dirty="0" err="1">
                <a:latin typeface="Cambria" panose="02040503050406030204" pitchFamily="18" charset="0"/>
                <a:cs typeface="Cambria" panose="02040503050406030204" pitchFamily="18" charset="0"/>
              </a:rPr>
              <a:t>GatekeeperX</a:t>
            </a:r>
            <a:r>
              <a:rPr lang="en-US" altLang="en-US" sz="2400" dirty="0">
                <a:latin typeface="Cambria" panose="02040503050406030204" pitchFamily="18" charset="0"/>
                <a:cs typeface="Cambria" panose="02040503050406030204" pitchFamily="18" charset="0"/>
              </a:rPr>
              <a:t> to select jobs based on security risk and dynamically improve fairness through aging.</a:t>
            </a:r>
          </a:p>
        </p:txBody>
      </p:sp>
      <p:graphicFrame>
        <p:nvGraphicFramePr>
          <p:cNvPr id="4" name="Table 3">
            <a:extLst>
              <a:ext uri="{FF2B5EF4-FFF2-40B4-BE49-F238E27FC236}">
                <a16:creationId xmlns:a16="http://schemas.microsoft.com/office/drawing/2014/main" id="{78D08670-0D34-DE2B-EE0E-2777DD679450}"/>
              </a:ext>
            </a:extLst>
          </p:cNvPr>
          <p:cNvGraphicFramePr>
            <a:graphicFrameLocks noGrp="1"/>
          </p:cNvGraphicFramePr>
          <p:nvPr>
            <p:extLst>
              <p:ext uri="{D42A27DB-BD31-4B8C-83A1-F6EECF244321}">
                <p14:modId xmlns:p14="http://schemas.microsoft.com/office/powerpoint/2010/main" val="3216498173"/>
              </p:ext>
            </p:extLst>
          </p:nvPr>
        </p:nvGraphicFramePr>
        <p:xfrm>
          <a:off x="108295" y="2316288"/>
          <a:ext cx="3941191" cy="2540176"/>
        </p:xfrm>
        <a:graphic>
          <a:graphicData uri="http://schemas.openxmlformats.org/drawingml/2006/table">
            <a:tbl>
              <a:tblPr firstRow="1" bandRow="1">
                <a:tableStyleId>{5C22544A-7EE6-4342-B048-85BDC9FD1C3A}</a:tableStyleId>
              </a:tblPr>
              <a:tblGrid>
                <a:gridCol w="765801">
                  <a:extLst>
                    <a:ext uri="{9D8B030D-6E8A-4147-A177-3AD203B41FA5}">
                      <a16:colId xmlns:a16="http://schemas.microsoft.com/office/drawing/2014/main" val="2562625178"/>
                    </a:ext>
                  </a:extLst>
                </a:gridCol>
                <a:gridCol w="1100475">
                  <a:extLst>
                    <a:ext uri="{9D8B030D-6E8A-4147-A177-3AD203B41FA5}">
                      <a16:colId xmlns:a16="http://schemas.microsoft.com/office/drawing/2014/main" val="3260855775"/>
                    </a:ext>
                  </a:extLst>
                </a:gridCol>
                <a:gridCol w="1127647">
                  <a:extLst>
                    <a:ext uri="{9D8B030D-6E8A-4147-A177-3AD203B41FA5}">
                      <a16:colId xmlns:a16="http://schemas.microsoft.com/office/drawing/2014/main" val="1417936073"/>
                    </a:ext>
                  </a:extLst>
                </a:gridCol>
                <a:gridCol w="947268">
                  <a:extLst>
                    <a:ext uri="{9D8B030D-6E8A-4147-A177-3AD203B41FA5}">
                      <a16:colId xmlns:a16="http://schemas.microsoft.com/office/drawing/2014/main" val="4167183735"/>
                    </a:ext>
                  </a:extLst>
                </a:gridCol>
              </a:tblGrid>
              <a:tr h="678667">
                <a:tc>
                  <a:txBody>
                    <a:bodyPr/>
                    <a:lstStyle/>
                    <a:p>
                      <a:r>
                        <a:rPr lang="en-IN" dirty="0"/>
                        <a:t>Job ID</a:t>
                      </a:r>
                    </a:p>
                  </a:txBody>
                  <a:tcPr/>
                </a:tc>
                <a:tc>
                  <a:txBody>
                    <a:bodyPr/>
                    <a:lstStyle/>
                    <a:p>
                      <a:r>
                        <a:rPr lang="en-IN" dirty="0"/>
                        <a:t>Initial Priority</a:t>
                      </a:r>
                    </a:p>
                  </a:txBody>
                  <a:tcPr/>
                </a:tc>
                <a:tc>
                  <a:txBody>
                    <a:bodyPr/>
                    <a:lstStyle/>
                    <a:p>
                      <a:r>
                        <a:rPr lang="en-IN" dirty="0" err="1"/>
                        <a:t>Modeled</a:t>
                      </a:r>
                      <a:r>
                        <a:rPr lang="en-IN" dirty="0"/>
                        <a:t> Priority </a:t>
                      </a:r>
                    </a:p>
                  </a:txBody>
                  <a:tcPr/>
                </a:tc>
                <a:tc>
                  <a:txBody>
                    <a:bodyPr/>
                    <a:lstStyle/>
                    <a:p>
                      <a:r>
                        <a:rPr lang="en-IN" dirty="0"/>
                        <a:t>Priority Class </a:t>
                      </a:r>
                    </a:p>
                  </a:txBody>
                  <a:tcPr/>
                </a:tc>
                <a:extLst>
                  <a:ext uri="{0D108BD9-81ED-4DB2-BD59-A6C34878D82A}">
                    <a16:rowId xmlns:a16="http://schemas.microsoft.com/office/drawing/2014/main" val="3143791548"/>
                  </a:ext>
                </a:extLst>
              </a:tr>
              <a:tr h="319225">
                <a:tc>
                  <a:txBody>
                    <a:bodyPr/>
                    <a:lstStyle/>
                    <a:p>
                      <a:r>
                        <a:rPr lang="en-IN" dirty="0"/>
                        <a:t>1</a:t>
                      </a:r>
                    </a:p>
                  </a:txBody>
                  <a:tcPr/>
                </a:tc>
                <a:tc>
                  <a:txBody>
                    <a:bodyPr/>
                    <a:lstStyle/>
                    <a:p>
                      <a:r>
                        <a:rPr lang="en-IN" dirty="0"/>
                        <a:t>48.76</a:t>
                      </a:r>
                    </a:p>
                  </a:txBody>
                  <a:tcPr/>
                </a:tc>
                <a:tc>
                  <a:txBody>
                    <a:bodyPr/>
                    <a:lstStyle/>
                    <a:p>
                      <a:r>
                        <a:rPr lang="en-IN" dirty="0"/>
                        <a:t>64.76</a:t>
                      </a:r>
                    </a:p>
                  </a:txBody>
                  <a:tcPr/>
                </a:tc>
                <a:tc>
                  <a:txBody>
                    <a:bodyPr/>
                    <a:lstStyle/>
                    <a:p>
                      <a:r>
                        <a:rPr lang="en-IN" dirty="0"/>
                        <a:t>P1</a:t>
                      </a:r>
                    </a:p>
                  </a:txBody>
                  <a:tcPr/>
                </a:tc>
                <a:extLst>
                  <a:ext uri="{0D108BD9-81ED-4DB2-BD59-A6C34878D82A}">
                    <a16:rowId xmlns:a16="http://schemas.microsoft.com/office/drawing/2014/main" val="3427549672"/>
                  </a:ext>
                </a:extLst>
              </a:tr>
              <a:tr h="319225">
                <a:tc>
                  <a:txBody>
                    <a:bodyPr/>
                    <a:lstStyle/>
                    <a:p>
                      <a:r>
                        <a:rPr lang="en-IN" dirty="0"/>
                        <a:t>2</a:t>
                      </a:r>
                    </a:p>
                  </a:txBody>
                  <a:tcPr/>
                </a:tc>
                <a:tc>
                  <a:txBody>
                    <a:bodyPr/>
                    <a:lstStyle/>
                    <a:p>
                      <a:r>
                        <a:rPr lang="en-IN" dirty="0"/>
                        <a:t>36.54</a:t>
                      </a:r>
                    </a:p>
                  </a:txBody>
                  <a:tcPr/>
                </a:tc>
                <a:tc>
                  <a:txBody>
                    <a:bodyPr/>
                    <a:lstStyle/>
                    <a:p>
                      <a:r>
                        <a:rPr lang="en-IN" dirty="0"/>
                        <a:t>48.76</a:t>
                      </a:r>
                    </a:p>
                  </a:txBody>
                  <a:tcPr/>
                </a:tc>
                <a:tc>
                  <a:txBody>
                    <a:bodyPr/>
                    <a:lstStyle/>
                    <a:p>
                      <a:r>
                        <a:rPr lang="en-IN" dirty="0"/>
                        <a:t>P2</a:t>
                      </a:r>
                    </a:p>
                  </a:txBody>
                  <a:tcPr/>
                </a:tc>
                <a:extLst>
                  <a:ext uri="{0D108BD9-81ED-4DB2-BD59-A6C34878D82A}">
                    <a16:rowId xmlns:a16="http://schemas.microsoft.com/office/drawing/2014/main" val="927198384"/>
                  </a:ext>
                </a:extLst>
              </a:tr>
              <a:tr h="398469">
                <a:tc>
                  <a:txBody>
                    <a:bodyPr/>
                    <a:lstStyle/>
                    <a:p>
                      <a:r>
                        <a:rPr lang="en-IN" dirty="0"/>
                        <a:t>3</a:t>
                      </a:r>
                    </a:p>
                  </a:txBody>
                  <a:tcPr/>
                </a:tc>
                <a:tc>
                  <a:txBody>
                    <a:bodyPr/>
                    <a:lstStyle/>
                    <a:p>
                      <a:r>
                        <a:rPr lang="en-IN" dirty="0"/>
                        <a:t>30.12</a:t>
                      </a:r>
                    </a:p>
                  </a:txBody>
                  <a:tcPr/>
                </a:tc>
                <a:tc>
                  <a:txBody>
                    <a:bodyPr/>
                    <a:lstStyle/>
                    <a:p>
                      <a:r>
                        <a:rPr lang="en-IN" dirty="0"/>
                        <a:t>53.39</a:t>
                      </a:r>
                    </a:p>
                  </a:txBody>
                  <a:tcPr/>
                </a:tc>
                <a:tc>
                  <a:txBody>
                    <a:bodyPr/>
                    <a:lstStyle/>
                    <a:p>
                      <a:r>
                        <a:rPr lang="en-IN" dirty="0"/>
                        <a:t>P3</a:t>
                      </a:r>
                    </a:p>
                  </a:txBody>
                  <a:tcPr/>
                </a:tc>
                <a:extLst>
                  <a:ext uri="{0D108BD9-81ED-4DB2-BD59-A6C34878D82A}">
                    <a16:rowId xmlns:a16="http://schemas.microsoft.com/office/drawing/2014/main" val="3375604521"/>
                  </a:ext>
                </a:extLst>
              </a:tr>
              <a:tr h="319225">
                <a:tc>
                  <a:txBody>
                    <a:bodyPr/>
                    <a:lstStyle/>
                    <a:p>
                      <a:r>
                        <a:rPr lang="en-IN" dirty="0"/>
                        <a:t>4</a:t>
                      </a:r>
                    </a:p>
                  </a:txBody>
                  <a:tcPr/>
                </a:tc>
                <a:tc>
                  <a:txBody>
                    <a:bodyPr/>
                    <a:lstStyle/>
                    <a:p>
                      <a:r>
                        <a:rPr lang="en-IN" dirty="0"/>
                        <a:t>74.06</a:t>
                      </a:r>
                    </a:p>
                  </a:txBody>
                  <a:tcPr/>
                </a:tc>
                <a:tc>
                  <a:txBody>
                    <a:bodyPr/>
                    <a:lstStyle/>
                    <a:p>
                      <a:r>
                        <a:rPr lang="en-IN" dirty="0"/>
                        <a:t>27.6</a:t>
                      </a:r>
                    </a:p>
                  </a:txBody>
                  <a:tcPr/>
                </a:tc>
                <a:tc>
                  <a:txBody>
                    <a:bodyPr/>
                    <a:lstStyle/>
                    <a:p>
                      <a:r>
                        <a:rPr lang="en-IN" dirty="0"/>
                        <a:t>P4</a:t>
                      </a:r>
                    </a:p>
                  </a:txBody>
                  <a:tcPr/>
                </a:tc>
                <a:extLst>
                  <a:ext uri="{0D108BD9-81ED-4DB2-BD59-A6C34878D82A}">
                    <a16:rowId xmlns:a16="http://schemas.microsoft.com/office/drawing/2014/main" val="3788314196"/>
                  </a:ext>
                </a:extLst>
              </a:tr>
              <a:tr h="319225">
                <a:tc>
                  <a:txBody>
                    <a:bodyPr/>
                    <a:lstStyle/>
                    <a:p>
                      <a:r>
                        <a:rPr lang="en-IN" dirty="0"/>
                        <a:t>5</a:t>
                      </a:r>
                    </a:p>
                  </a:txBody>
                  <a:tcPr/>
                </a:tc>
                <a:tc>
                  <a:txBody>
                    <a:bodyPr/>
                    <a:lstStyle/>
                    <a:p>
                      <a:r>
                        <a:rPr lang="en-IN" dirty="0"/>
                        <a:t>27.6</a:t>
                      </a:r>
                    </a:p>
                  </a:txBody>
                  <a:tcPr/>
                </a:tc>
                <a:tc>
                  <a:txBody>
                    <a:bodyPr/>
                    <a:lstStyle/>
                    <a:p>
                      <a:r>
                        <a:rPr lang="en-IN" dirty="0"/>
                        <a:t>18.74</a:t>
                      </a:r>
                    </a:p>
                  </a:txBody>
                  <a:tcPr/>
                </a:tc>
                <a:tc>
                  <a:txBody>
                    <a:bodyPr/>
                    <a:lstStyle/>
                    <a:p>
                      <a:r>
                        <a:rPr lang="en-IN" dirty="0"/>
                        <a:t>P5</a:t>
                      </a:r>
                    </a:p>
                  </a:txBody>
                  <a:tcPr/>
                </a:tc>
                <a:extLst>
                  <a:ext uri="{0D108BD9-81ED-4DB2-BD59-A6C34878D82A}">
                    <a16:rowId xmlns:a16="http://schemas.microsoft.com/office/drawing/2014/main" val="350920875"/>
                  </a:ext>
                </a:extLst>
              </a:tr>
            </a:tbl>
          </a:graphicData>
        </a:graphic>
      </p:graphicFrame>
      <p:pic>
        <p:nvPicPr>
          <p:cNvPr id="6" name="Picture 5">
            <a:extLst>
              <a:ext uri="{FF2B5EF4-FFF2-40B4-BE49-F238E27FC236}">
                <a16:creationId xmlns:a16="http://schemas.microsoft.com/office/drawing/2014/main" id="{6A20BE4B-379C-8D97-DCAF-8C4F31251DC8}"/>
              </a:ext>
            </a:extLst>
          </p:cNvPr>
          <p:cNvPicPr>
            <a:picLocks noChangeAspect="1"/>
          </p:cNvPicPr>
          <p:nvPr/>
        </p:nvPicPr>
        <p:blipFill>
          <a:blip r:embed="rId2"/>
          <a:stretch>
            <a:fillRect/>
          </a:stretch>
        </p:blipFill>
        <p:spPr>
          <a:xfrm>
            <a:off x="4107768" y="2277456"/>
            <a:ext cx="3811589" cy="2668112"/>
          </a:xfrm>
          <a:prstGeom prst="rect">
            <a:avLst/>
          </a:prstGeom>
        </p:spPr>
      </p:pic>
      <p:pic>
        <p:nvPicPr>
          <p:cNvPr id="9" name="Picture 8">
            <a:extLst>
              <a:ext uri="{FF2B5EF4-FFF2-40B4-BE49-F238E27FC236}">
                <a16:creationId xmlns:a16="http://schemas.microsoft.com/office/drawing/2014/main" id="{302C19E5-E893-DAA3-E32D-80A442819F83}"/>
              </a:ext>
            </a:extLst>
          </p:cNvPr>
          <p:cNvPicPr>
            <a:picLocks noChangeAspect="1"/>
          </p:cNvPicPr>
          <p:nvPr/>
        </p:nvPicPr>
        <p:blipFill>
          <a:blip r:embed="rId3"/>
          <a:stretch>
            <a:fillRect/>
          </a:stretch>
        </p:blipFill>
        <p:spPr>
          <a:xfrm>
            <a:off x="7919356" y="2319550"/>
            <a:ext cx="4081045" cy="2626018"/>
          </a:xfrm>
          <a:prstGeom prst="rect">
            <a:avLst/>
          </a:prstGeom>
        </p:spPr>
      </p:pic>
    </p:spTree>
    <p:extLst>
      <p:ext uri="{BB962C8B-B14F-4D97-AF65-F5344CB8AC3E}">
        <p14:creationId xmlns:p14="http://schemas.microsoft.com/office/powerpoint/2010/main" val="603172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957732" y="1164344"/>
            <a:ext cx="2273360" cy="628890"/>
          </a:xfrm>
          <a:prstGeom prst="rect">
            <a:avLst/>
          </a:prstGeom>
        </p:spPr>
        <p:txBody>
          <a:bodyPr wrap="square">
            <a:spAutoFit/>
          </a:bodyPr>
          <a:lstStyle/>
          <a:p>
            <a:pPr>
              <a:lnSpc>
                <a:spcPct val="120000"/>
              </a:lnSpc>
            </a:pPr>
            <a:r>
              <a:rPr lang="en-US" sz="3200" b="1" dirty="0">
                <a:solidFill>
                  <a:schemeClr val="accent1">
                    <a:lumMod val="75000"/>
                  </a:schemeClr>
                </a:solidFill>
                <a:latin typeface="Cambria" pitchFamily="18" charset="0"/>
              </a:rPr>
              <a:t>Conclusion</a:t>
            </a:r>
          </a:p>
        </p:txBody>
      </p:sp>
      <p:sp>
        <p:nvSpPr>
          <p:cNvPr id="3" name="Bullets3"/>
          <p:cNvSpPr txBox="1"/>
          <p:nvPr/>
        </p:nvSpPr>
        <p:spPr>
          <a:xfrm>
            <a:off x="147212" y="1355440"/>
            <a:ext cx="11894400" cy="5400960"/>
          </a:xfrm>
          <a:prstGeom prst="rect">
            <a:avLst/>
          </a:prstGeom>
          <a:noFill/>
        </p:spPr>
        <p:txBody>
          <a:bodyPr wrap="square" rtlCol="0">
            <a:normAutofit/>
          </a:bodyPr>
          <a:lstStyle/>
          <a:p>
            <a:pPr>
              <a:lnSpc>
                <a:spcPct val="120000"/>
              </a:lnSpc>
            </a:pPr>
            <a:endParaRPr lang="en-US" dirty="0">
              <a:latin typeface="Cambria" pitchFamily="18" charset="0"/>
            </a:endParaRPr>
          </a:p>
          <a:p>
            <a:pPr marL="228600" indent="-228600">
              <a:lnSpc>
                <a:spcPct val="120000"/>
              </a:lnSpc>
              <a:buFont typeface="Arial" pitchFamily="34" charset="0"/>
              <a:buChar char="•"/>
            </a:pPr>
            <a:r>
              <a:rPr lang="en-US" dirty="0" err="1">
                <a:latin typeface="Cambria" pitchFamily="18" charset="0"/>
              </a:rPr>
              <a:t>GatekeeperX</a:t>
            </a:r>
            <a:r>
              <a:rPr lang="en-US" dirty="0">
                <a:latin typeface="Cambria" pitchFamily="18" charset="0"/>
              </a:rPr>
              <a:t> demonstrates an intelligent queueing approach for managing </a:t>
            </a:r>
            <a:r>
              <a:rPr lang="en-US" dirty="0" err="1">
                <a:latin typeface="Cambria" pitchFamily="18" charset="0"/>
              </a:rPr>
              <a:t>DevSecOps</a:t>
            </a:r>
            <a:r>
              <a:rPr lang="en-US" dirty="0">
                <a:latin typeface="Cambria" pitchFamily="18" charset="0"/>
              </a:rPr>
              <a:t> security gate tasks effectively.</a:t>
            </a:r>
          </a:p>
          <a:p>
            <a:pPr marL="228600" indent="-228600">
              <a:lnSpc>
                <a:spcPct val="120000"/>
              </a:lnSpc>
              <a:buFont typeface="Arial" pitchFamily="34" charset="0"/>
              <a:buChar char="•"/>
            </a:pPr>
            <a:r>
              <a:rPr lang="en-US" dirty="0">
                <a:latin typeface="Cambria" pitchFamily="18" charset="0"/>
              </a:rPr>
              <a:t>The system generates realistic security-job data and models each task using risk, severity, vulnerability, and business-impact parameters.</a:t>
            </a:r>
          </a:p>
          <a:p>
            <a:pPr marL="228600" indent="-228600">
              <a:lnSpc>
                <a:spcPct val="120000"/>
              </a:lnSpc>
              <a:buFont typeface="Arial" pitchFamily="34" charset="0"/>
              <a:buChar char="•"/>
            </a:pPr>
            <a:r>
              <a:rPr lang="en-US" dirty="0">
                <a:latin typeface="Cambria" pitchFamily="18" charset="0"/>
              </a:rPr>
              <a:t>Dynamic priority and aging mechanisms enable important security tasks to receive appropriate processing attention while reducing task starvation.</a:t>
            </a:r>
          </a:p>
          <a:p>
            <a:pPr marL="228600" indent="-228600">
              <a:lnSpc>
                <a:spcPct val="120000"/>
              </a:lnSpc>
              <a:buFont typeface="Arial" pitchFamily="34" charset="0"/>
              <a:buChar char="•"/>
            </a:pPr>
            <a:r>
              <a:rPr lang="en-US" dirty="0">
                <a:latin typeface="Cambria" pitchFamily="18" charset="0"/>
              </a:rPr>
              <a:t>The queueing simulation measures key performance indicators such as waiting time, turnaround time, queue length, throughput, and utilization.</a:t>
            </a:r>
          </a:p>
          <a:p>
            <a:pPr marL="228600" indent="-228600">
              <a:lnSpc>
                <a:spcPct val="120000"/>
              </a:lnSpc>
              <a:buFont typeface="Arial" pitchFamily="34" charset="0"/>
              <a:buChar char="•"/>
            </a:pPr>
            <a:r>
              <a:rPr lang="en-US" dirty="0">
                <a:latin typeface="Cambria" pitchFamily="18" charset="0"/>
              </a:rPr>
              <a:t>Statistical evaluation provides a structured assessment of the overall behavior and performance of the proposed system.</a:t>
            </a:r>
          </a:p>
          <a:p>
            <a:pPr marL="228600" indent="-228600">
              <a:lnSpc>
                <a:spcPct val="120000"/>
              </a:lnSpc>
              <a:buFont typeface="Arial" pitchFamily="34" charset="0"/>
              <a:buChar char="•"/>
            </a:pPr>
            <a:r>
              <a:rPr lang="en-US" dirty="0">
                <a:latin typeface="Cambria" pitchFamily="18" charset="0"/>
              </a:rPr>
              <a:t>Comparison with FCFS and Static Priority approaches highlights the impact of risk-based and dynamic queue management.</a:t>
            </a:r>
          </a:p>
          <a:p>
            <a:pPr marL="228600" indent="-228600">
              <a:lnSpc>
                <a:spcPct val="120000"/>
              </a:lnSpc>
              <a:buFont typeface="Arial" pitchFamily="34" charset="0"/>
              <a:buChar char="•"/>
            </a:pPr>
            <a:r>
              <a:rPr lang="en-US" dirty="0">
                <a:latin typeface="Cambria" pitchFamily="18" charset="0"/>
              </a:rPr>
              <a:t>The results show that </a:t>
            </a:r>
            <a:r>
              <a:rPr lang="en-US" dirty="0" err="1">
                <a:latin typeface="Cambria" pitchFamily="18" charset="0"/>
              </a:rPr>
              <a:t>GatekeeperX</a:t>
            </a:r>
            <a:r>
              <a:rPr lang="en-US" dirty="0">
                <a:latin typeface="Cambria" pitchFamily="18" charset="0"/>
              </a:rPr>
              <a:t> provides a practical framework for improving security-task prioritization and decision-making in </a:t>
            </a:r>
            <a:r>
              <a:rPr lang="en-US" dirty="0" err="1">
                <a:latin typeface="Cambria" pitchFamily="18" charset="0"/>
              </a:rPr>
              <a:t>DevSecOps</a:t>
            </a:r>
            <a:r>
              <a:rPr lang="en-US" dirty="0">
                <a:latin typeface="Cambria" pitchFamily="18" charset="0"/>
              </a:rPr>
              <a:t> pipelines.</a:t>
            </a:r>
          </a:p>
          <a:p>
            <a:pPr marL="228600" indent="-228600">
              <a:lnSpc>
                <a:spcPct val="120000"/>
              </a:lnSpc>
              <a:buFont typeface="Arial" pitchFamily="34" charset="0"/>
              <a:buChar char="•"/>
            </a:pPr>
            <a:r>
              <a:rPr lang="en-US" dirty="0">
                <a:latin typeface="Cambria" pitchFamily="18" charset="0"/>
              </a:rPr>
              <a:t>Overall, the proposed system supports a more intelligent, fair, and security-aware approach to managing software delivery security gates.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82480" y="1306584"/>
            <a:ext cx="3261040" cy="707886"/>
          </a:xfrm>
          <a:prstGeom prst="rect">
            <a:avLst/>
          </a:prstGeom>
        </p:spPr>
        <p:txBody>
          <a:bodyPr wrap="square">
            <a:spAutoFit/>
          </a:bodyPr>
          <a:lstStyle/>
          <a:p>
            <a:r>
              <a:rPr lang="en-IN" altLang="en-US" sz="4000" b="1" dirty="0">
                <a:solidFill>
                  <a:schemeClr val="accent1">
                    <a:lumMod val="75000"/>
                  </a:schemeClr>
                </a:solidFill>
                <a:latin typeface="Cambria" pitchFamily="18" charset="0"/>
              </a:rPr>
              <a:t>Future Scope</a:t>
            </a:r>
          </a:p>
        </p:txBody>
      </p:sp>
      <p:sp>
        <p:nvSpPr>
          <p:cNvPr id="3" name="Bullets3"/>
          <p:cNvSpPr txBox="1"/>
          <p:nvPr/>
        </p:nvSpPr>
        <p:spPr>
          <a:xfrm>
            <a:off x="360571" y="2014470"/>
            <a:ext cx="11467681" cy="4547520"/>
          </a:xfrm>
          <a:prstGeom prst="rect">
            <a:avLst/>
          </a:prstGeom>
          <a:noFill/>
        </p:spPr>
        <p:txBody>
          <a:bodyPr wrap="square" rtlCol="0">
            <a:normAutofit fontScale="92500" lnSpcReduction="10000"/>
          </a:bodyPr>
          <a:lstStyle/>
          <a:p>
            <a:pPr algn="just">
              <a:lnSpc>
                <a:spcPct val="150000"/>
              </a:lnSpc>
            </a:pPr>
            <a:endParaRPr lang="en-US" sz="2400" dirty="0">
              <a:latin typeface="Cambria" pitchFamily="18" charset="0"/>
            </a:endParaRPr>
          </a:p>
          <a:p>
            <a:pPr marL="228600" indent="-228600" algn="just">
              <a:lnSpc>
                <a:spcPct val="150000"/>
              </a:lnSpc>
              <a:buFont typeface="Arial" pitchFamily="34" charset="0"/>
              <a:buChar char="•"/>
            </a:pPr>
            <a:r>
              <a:rPr lang="en-US" sz="2400" dirty="0">
                <a:latin typeface="Cambria" pitchFamily="18" charset="0"/>
              </a:rPr>
              <a:t>1. Real-Time </a:t>
            </a:r>
            <a:r>
              <a:rPr lang="en-US" sz="2400" dirty="0" err="1">
                <a:latin typeface="Cambria" pitchFamily="18" charset="0"/>
              </a:rPr>
              <a:t>DevSecOps</a:t>
            </a:r>
            <a:r>
              <a:rPr lang="en-US" sz="2400" dirty="0">
                <a:latin typeface="Cambria" pitchFamily="18" charset="0"/>
              </a:rPr>
              <a:t> Integration: Integrate </a:t>
            </a:r>
            <a:r>
              <a:rPr lang="en-US" sz="2400" dirty="0" err="1">
                <a:latin typeface="Cambria" pitchFamily="18" charset="0"/>
              </a:rPr>
              <a:t>GatekeeperX</a:t>
            </a:r>
            <a:r>
              <a:rPr lang="en-US" sz="2400" dirty="0">
                <a:latin typeface="Cambria" pitchFamily="18" charset="0"/>
              </a:rPr>
              <a:t> with live CI/CD pipelines to process real security scan results in real time.</a:t>
            </a:r>
          </a:p>
          <a:p>
            <a:pPr marL="228600" indent="-228600" algn="just">
              <a:lnSpc>
                <a:spcPct val="150000"/>
              </a:lnSpc>
              <a:buFont typeface="Arial" pitchFamily="34" charset="0"/>
              <a:buChar char="•"/>
            </a:pPr>
            <a:endParaRPr lang="en-US" sz="2400" dirty="0">
              <a:latin typeface="Cambria" pitchFamily="18" charset="0"/>
            </a:endParaRPr>
          </a:p>
          <a:p>
            <a:pPr marL="228600" indent="-228600" algn="just">
              <a:lnSpc>
                <a:spcPct val="150000"/>
              </a:lnSpc>
              <a:buFont typeface="Arial" pitchFamily="34" charset="0"/>
              <a:buChar char="•"/>
            </a:pPr>
            <a:r>
              <a:rPr lang="en-US" sz="2400" dirty="0">
                <a:latin typeface="Cambria" pitchFamily="18" charset="0"/>
              </a:rPr>
              <a:t>2. AI-Based Adaptive Prioritization: Apply machine learning to automatically adjust priority weights based on historical security incidents and pipeline behavior.</a:t>
            </a:r>
          </a:p>
          <a:p>
            <a:pPr marL="228600" indent="-228600" algn="just">
              <a:lnSpc>
                <a:spcPct val="150000"/>
              </a:lnSpc>
              <a:buFont typeface="Arial" pitchFamily="34" charset="0"/>
              <a:buChar char="•"/>
            </a:pPr>
            <a:endParaRPr lang="en-US" sz="2400" dirty="0">
              <a:latin typeface="Cambria" pitchFamily="18" charset="0"/>
            </a:endParaRPr>
          </a:p>
          <a:p>
            <a:pPr marL="228600" indent="-228600" algn="just">
              <a:lnSpc>
                <a:spcPct val="150000"/>
              </a:lnSpc>
              <a:buFont typeface="Arial" pitchFamily="34" charset="0"/>
              <a:buChar char="•"/>
            </a:pPr>
            <a:r>
              <a:rPr lang="en-US" sz="2400" dirty="0">
                <a:latin typeface="Cambria" pitchFamily="18" charset="0"/>
              </a:rPr>
              <a:t>3. Cloud-Scale Queue Management: Extend the system to support distributed and cloud-based </a:t>
            </a:r>
            <a:r>
              <a:rPr lang="en-US" sz="2400" dirty="0" err="1">
                <a:latin typeface="Cambria" pitchFamily="18" charset="0"/>
              </a:rPr>
              <a:t>DevSecOps</a:t>
            </a:r>
            <a:r>
              <a:rPr lang="en-US" sz="2400" dirty="0">
                <a:latin typeface="Cambria" pitchFamily="18" charset="0"/>
              </a:rPr>
              <a:t> environments with multiple security gates and large workloads.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771280" y="1306584"/>
            <a:ext cx="9900000" cy="646331"/>
          </a:xfrm>
          <a:prstGeom prst="rect">
            <a:avLst/>
          </a:prstGeom>
        </p:spPr>
        <p:txBody>
          <a:bodyPr wrap="square">
            <a:spAutoFit/>
          </a:bodyPr>
          <a:lstStyle/>
          <a:p>
            <a:r>
              <a:rPr lang="en-IN" altLang="en-US" sz="3600" b="1" dirty="0">
                <a:solidFill>
                  <a:schemeClr val="accent1">
                    <a:lumMod val="75000"/>
                  </a:schemeClr>
                </a:solidFill>
                <a:latin typeface="Cambria" pitchFamily="18" charset="0"/>
              </a:rPr>
              <a:t>ACKNOWLEDGEMENT</a:t>
            </a:r>
          </a:p>
        </p:txBody>
      </p:sp>
      <p:sp>
        <p:nvSpPr>
          <p:cNvPr id="3" name="Bullets3"/>
          <p:cNvSpPr txBox="1"/>
          <p:nvPr/>
        </p:nvSpPr>
        <p:spPr>
          <a:xfrm>
            <a:off x="309772" y="2616086"/>
            <a:ext cx="11569280" cy="3571354"/>
          </a:xfrm>
          <a:prstGeom prst="rect">
            <a:avLst/>
          </a:prstGeom>
          <a:noFill/>
        </p:spPr>
        <p:txBody>
          <a:bodyPr wrap="square" rtlCol="0">
            <a:normAutofit/>
          </a:bodyPr>
          <a:lstStyle/>
          <a:p>
            <a:pPr algn="just">
              <a:lnSpc>
                <a:spcPct val="160000"/>
              </a:lnSpc>
            </a:pPr>
            <a:r>
              <a:rPr lang="en-US" sz="2400" dirty="0">
                <a:latin typeface="Cambria" pitchFamily="18" charset="0"/>
              </a:rPr>
              <a:t>	I would like to express my sincere gratitude to my guide and faculty members for their valuable guidance, support, and encouragement throughout the development of this project. I also thank my institution for providing the necessary resources and learning environment to complete this work successfully. Finally, I am grateful to my family and friends for their constant motivation and support during the completion of this project.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771252" y="1184664"/>
            <a:ext cx="2646320" cy="583565"/>
          </a:xfrm>
          <a:prstGeom prst="rect">
            <a:avLst/>
          </a:prstGeom>
        </p:spPr>
        <p:txBody>
          <a:bodyPr wrap="square">
            <a:spAutoFit/>
          </a:bodyPr>
          <a:lstStyle/>
          <a:p>
            <a:r>
              <a:rPr lang="en-IN" altLang="en-US" sz="3200" b="1" dirty="0">
                <a:solidFill>
                  <a:schemeClr val="accent1">
                    <a:lumMod val="75000"/>
                  </a:schemeClr>
                </a:solidFill>
                <a:latin typeface="Cambria" pitchFamily="18" charset="0"/>
              </a:rPr>
              <a:t>REFERENCES </a:t>
            </a:r>
          </a:p>
        </p:txBody>
      </p:sp>
      <p:sp>
        <p:nvSpPr>
          <p:cNvPr id="3" name="Bullets3"/>
          <p:cNvSpPr txBox="1"/>
          <p:nvPr/>
        </p:nvSpPr>
        <p:spPr>
          <a:xfrm>
            <a:off x="391052" y="1768229"/>
            <a:ext cx="11406720" cy="4578000"/>
          </a:xfrm>
          <a:prstGeom prst="rect">
            <a:avLst/>
          </a:prstGeom>
          <a:noFill/>
        </p:spPr>
        <p:txBody>
          <a:bodyPr wrap="square" rtlCol="0">
            <a:normAutofit/>
          </a:bodyPr>
          <a:lstStyle/>
          <a:p>
            <a:pPr>
              <a:lnSpc>
                <a:spcPct val="120000"/>
              </a:lnSpc>
            </a:pPr>
            <a:endParaRPr lang="en-US" sz="1400" b="1" dirty="0">
              <a:latin typeface="Cambria" pitchFamily="18" charset="0"/>
            </a:endParaRPr>
          </a:p>
          <a:p>
            <a:pPr marL="228600" indent="-228600">
              <a:lnSpc>
                <a:spcPct val="120000"/>
              </a:lnSpc>
              <a:buFont typeface="Arial" pitchFamily="34" charset="0"/>
              <a:buChar char="•"/>
            </a:pPr>
            <a:r>
              <a:rPr lang="en-US" sz="1400" b="1" dirty="0">
                <a:latin typeface="Cambria" pitchFamily="18" charset="0"/>
              </a:rPr>
              <a:t>[1] M. </a:t>
            </a:r>
            <a:r>
              <a:rPr lang="en-US" sz="1400" b="1" dirty="0" err="1">
                <a:latin typeface="Cambria" pitchFamily="18" charset="0"/>
              </a:rPr>
              <a:t>Souppaya</a:t>
            </a:r>
            <a:r>
              <a:rPr lang="en-US" sz="1400" b="1" dirty="0">
                <a:latin typeface="Cambria" pitchFamily="18" charset="0"/>
              </a:rPr>
              <a:t>, K. Scarfone, and D. Dodson, Secure Software Development Framework (SSDF) Version 1.1: Recommendations for Mitigating the Risk of Software Vulnerabilities, NIST SP 800-218, Feb. 2022. ([NIST Computer Security Resource Center][1])</a:t>
            </a:r>
          </a:p>
          <a:p>
            <a:pPr marL="228600" indent="-228600">
              <a:lnSpc>
                <a:spcPct val="120000"/>
              </a:lnSpc>
              <a:buFont typeface="Arial" pitchFamily="34" charset="0"/>
              <a:buChar char="•"/>
            </a:pPr>
            <a:endParaRPr lang="en-US" sz="1400" b="1" dirty="0">
              <a:latin typeface="Cambria" pitchFamily="18" charset="0"/>
            </a:endParaRPr>
          </a:p>
          <a:p>
            <a:pPr marL="228600" indent="-228600">
              <a:lnSpc>
                <a:spcPct val="120000"/>
              </a:lnSpc>
              <a:buFont typeface="Arial" pitchFamily="34" charset="0"/>
              <a:buChar char="•"/>
            </a:pPr>
            <a:r>
              <a:rPr lang="en-US" sz="1400" b="1" dirty="0">
                <a:latin typeface="Cambria" pitchFamily="18" charset="0"/>
              </a:rPr>
              <a:t>[2] National Institute of Standards and Technology, Secure Software Development, Security, and Operations (</a:t>
            </a:r>
            <a:r>
              <a:rPr lang="en-US" sz="1400" b="1" dirty="0" err="1">
                <a:latin typeface="Cambria" pitchFamily="18" charset="0"/>
              </a:rPr>
              <a:t>DevSecOps</a:t>
            </a:r>
            <a:r>
              <a:rPr lang="en-US" sz="1400" b="1" dirty="0">
                <a:latin typeface="Cambria" pitchFamily="18" charset="0"/>
              </a:rPr>
              <a:t>) Practices*, NIST </a:t>
            </a:r>
            <a:r>
              <a:rPr lang="en-US" sz="1400" b="1" dirty="0" err="1">
                <a:latin typeface="Cambria" pitchFamily="18" charset="0"/>
              </a:rPr>
              <a:t>NCCoE</a:t>
            </a:r>
            <a:r>
              <a:rPr lang="en-US" sz="1400" b="1" dirty="0">
                <a:latin typeface="Cambria" pitchFamily="18" charset="0"/>
              </a:rPr>
              <a:t>, 2026. ([</a:t>
            </a:r>
            <a:r>
              <a:rPr lang="en-US" sz="1400" b="1" dirty="0" err="1">
                <a:latin typeface="Cambria" pitchFamily="18" charset="0"/>
              </a:rPr>
              <a:t>NCCoE</a:t>
            </a:r>
            <a:r>
              <a:rPr lang="en-US" sz="1400" b="1" dirty="0">
                <a:latin typeface="Cambria" pitchFamily="18" charset="0"/>
              </a:rPr>
              <a:t>][2])</a:t>
            </a:r>
          </a:p>
          <a:p>
            <a:pPr marL="228600" indent="-228600">
              <a:lnSpc>
                <a:spcPct val="120000"/>
              </a:lnSpc>
              <a:buFont typeface="Arial" pitchFamily="34" charset="0"/>
              <a:buChar char="•"/>
            </a:pPr>
            <a:endParaRPr lang="en-US" sz="1400" b="1" dirty="0">
              <a:latin typeface="Cambria" pitchFamily="18" charset="0"/>
            </a:endParaRPr>
          </a:p>
          <a:p>
            <a:pPr marL="228600" indent="-228600">
              <a:lnSpc>
                <a:spcPct val="120000"/>
              </a:lnSpc>
              <a:buFont typeface="Arial" pitchFamily="34" charset="0"/>
              <a:buChar char="•"/>
            </a:pPr>
            <a:r>
              <a:rPr lang="en-US" sz="1400" b="1" dirty="0">
                <a:latin typeface="Cambria" pitchFamily="18" charset="0"/>
              </a:rPr>
              <a:t>[3] OWASP Foundation, OWASP Developer Guide: </a:t>
            </a:r>
            <a:r>
              <a:rPr lang="en-US" sz="1400" b="1" dirty="0" err="1">
                <a:latin typeface="Cambria" pitchFamily="18" charset="0"/>
              </a:rPr>
              <a:t>DevSecOps</a:t>
            </a:r>
            <a:r>
              <a:rPr lang="en-US" sz="1400" b="1" dirty="0">
                <a:latin typeface="Cambria" pitchFamily="18" charset="0"/>
              </a:rPr>
              <a:t> Guideline, 2023. ([OWASP][3])</a:t>
            </a:r>
          </a:p>
          <a:p>
            <a:pPr marL="228600" indent="-228600">
              <a:lnSpc>
                <a:spcPct val="120000"/>
              </a:lnSpc>
              <a:buFont typeface="Arial" pitchFamily="34" charset="0"/>
              <a:buChar char="•"/>
            </a:pPr>
            <a:endParaRPr lang="en-US" sz="1400" b="1" dirty="0">
              <a:latin typeface="Cambria" pitchFamily="18" charset="0"/>
            </a:endParaRPr>
          </a:p>
          <a:p>
            <a:pPr marL="228600" indent="-228600">
              <a:lnSpc>
                <a:spcPct val="120000"/>
              </a:lnSpc>
              <a:buFont typeface="Arial" pitchFamily="34" charset="0"/>
              <a:buChar char="•"/>
            </a:pPr>
            <a:r>
              <a:rPr lang="en-US" sz="1400" b="1" dirty="0">
                <a:latin typeface="Cambria" pitchFamily="18" charset="0"/>
              </a:rPr>
              <a:t>[4] H. Booth, M. Ogata, K. Kent, M. </a:t>
            </a:r>
            <a:r>
              <a:rPr lang="en-US" sz="1400" b="1" dirty="0" err="1">
                <a:latin typeface="Cambria" pitchFamily="18" charset="0"/>
              </a:rPr>
              <a:t>Souppaya</a:t>
            </a:r>
            <a:r>
              <a:rPr lang="en-US" sz="1400" b="1" dirty="0">
                <a:latin typeface="Cambria" pitchFamily="18" charset="0"/>
              </a:rPr>
              <a:t>, and D. Dodson, Secure Software Development Framework (SSDF) Version 1.2, NIST SP 800-218 Rev. 1, Initial Public Draft, Dec. 2025. ([NIST Computer Security Resource Center][4])</a:t>
            </a:r>
          </a:p>
          <a:p>
            <a:pPr marL="228600" indent="-228600">
              <a:lnSpc>
                <a:spcPct val="120000"/>
              </a:lnSpc>
              <a:buFont typeface="Arial" pitchFamily="34" charset="0"/>
              <a:buChar char="•"/>
            </a:pPr>
            <a:endParaRPr lang="en-US" sz="1400" b="1" dirty="0">
              <a:latin typeface="Cambria" pitchFamily="18" charset="0"/>
            </a:endParaRPr>
          </a:p>
          <a:p>
            <a:pPr marL="228600" indent="-228600">
              <a:lnSpc>
                <a:spcPct val="120000"/>
              </a:lnSpc>
              <a:buFont typeface="Arial" pitchFamily="34" charset="0"/>
              <a:buChar char="•"/>
            </a:pPr>
            <a:r>
              <a:rPr lang="en-US" sz="1400" b="1" dirty="0">
                <a:latin typeface="Cambria" pitchFamily="18" charset="0"/>
              </a:rPr>
              <a:t>[5] H. Booth, M. </a:t>
            </a:r>
            <a:r>
              <a:rPr lang="en-US" sz="1400" b="1" dirty="0" err="1">
                <a:latin typeface="Cambria" pitchFamily="18" charset="0"/>
              </a:rPr>
              <a:t>Souppaya</a:t>
            </a:r>
            <a:r>
              <a:rPr lang="en-US" sz="1400" b="1" dirty="0">
                <a:latin typeface="Cambria" pitchFamily="18" charset="0"/>
              </a:rPr>
              <a:t>, A. Vassilev, M. Ogata, M. Stanley, and K. Scarfone, Secure Software Development Practices for Generative AI and Dual-Use Foundation Models, NIST SP 800-218A, Jul. 2024. ([NIST Computer Security Resource Center][5])</a:t>
            </a:r>
          </a:p>
          <a:p>
            <a:pPr marL="228600" indent="-228600">
              <a:lnSpc>
                <a:spcPct val="120000"/>
              </a:lnSpc>
              <a:buFont typeface="Arial" pitchFamily="34" charset="0"/>
              <a:buChar char="•"/>
            </a:pPr>
            <a:endParaRPr lang="en-US" sz="1400" b="1" dirty="0">
              <a:latin typeface="Cambria" pitchFamily="18" charset="0"/>
            </a:endParaRPr>
          </a:p>
          <a:p>
            <a:pPr marL="228600" indent="-228600">
              <a:lnSpc>
                <a:spcPct val="120000"/>
              </a:lnSpc>
              <a:buFont typeface="Arial" pitchFamily="34" charset="0"/>
              <a:buChar char="•"/>
            </a:pPr>
            <a:r>
              <a:rPr lang="en-US" sz="1400" b="1" dirty="0">
                <a:latin typeface="Cambria" pitchFamily="18" charset="0"/>
              </a:rPr>
              <a:t>[6] M. P. S. Reddy and S. K. Reddy, “Comparison of CPU Scheduling Algorithms: FCFS, SJF, SRTF, Round Robin, Priority Based, and Multilevel Queuing,” in Proc. IEEE R10 Humanitarian Technology Conf., 2022. ([DOI][6])</a:t>
            </a:r>
          </a:p>
          <a:p>
            <a:pPr marL="228600" indent="-228600">
              <a:lnSpc>
                <a:spcPct val="120000"/>
              </a:lnSpc>
              <a:buFont typeface="Arial" pitchFamily="34" charset="0"/>
              <a:buChar char="•"/>
            </a:pPr>
            <a:endParaRPr lang="en-US" sz="1400" b="1" dirty="0">
              <a:latin typeface="Cambria"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AC637-7242-2305-B7B9-1D27842F365C}"/>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73D1944B-62EC-8E98-0C7A-56CD2C8C5052}"/>
              </a:ext>
            </a:extLst>
          </p:cNvPr>
          <p:cNvSpPr txBox="1"/>
          <p:nvPr/>
        </p:nvSpPr>
        <p:spPr>
          <a:xfrm>
            <a:off x="4766171" y="1083064"/>
            <a:ext cx="2656480" cy="583565"/>
          </a:xfrm>
          <a:prstGeom prst="rect">
            <a:avLst/>
          </a:prstGeom>
        </p:spPr>
        <p:txBody>
          <a:bodyPr wrap="square">
            <a:spAutoFit/>
          </a:bodyPr>
          <a:lstStyle/>
          <a:p>
            <a:r>
              <a:rPr lang="en-IN" altLang="en-US" sz="3200" b="1" dirty="0">
                <a:solidFill>
                  <a:schemeClr val="accent1">
                    <a:lumMod val="75000"/>
                  </a:schemeClr>
                </a:solidFill>
                <a:latin typeface="Cambria" pitchFamily="18" charset="0"/>
              </a:rPr>
              <a:t>REFERENCES </a:t>
            </a:r>
          </a:p>
        </p:txBody>
      </p:sp>
      <p:sp>
        <p:nvSpPr>
          <p:cNvPr id="3" name="Bullets3">
            <a:extLst>
              <a:ext uri="{FF2B5EF4-FFF2-40B4-BE49-F238E27FC236}">
                <a16:creationId xmlns:a16="http://schemas.microsoft.com/office/drawing/2014/main" id="{10F23272-9599-41C5-402D-1A5B13ADD9C5}"/>
              </a:ext>
            </a:extLst>
          </p:cNvPr>
          <p:cNvSpPr txBox="1"/>
          <p:nvPr/>
        </p:nvSpPr>
        <p:spPr>
          <a:xfrm>
            <a:off x="449998" y="1974936"/>
            <a:ext cx="11288825" cy="3800000"/>
          </a:xfrm>
          <a:prstGeom prst="rect">
            <a:avLst/>
          </a:prstGeom>
          <a:noFill/>
        </p:spPr>
        <p:txBody>
          <a:bodyPr wrap="square" rtlCol="0">
            <a:noAutofit/>
          </a:bodyPr>
          <a:lstStyle/>
          <a:p>
            <a:r>
              <a:rPr lang="en-US" sz="1400" b="1" dirty="0">
                <a:latin typeface="Cambria" pitchFamily="18" charset="0"/>
              </a:rPr>
              <a:t>[7] NIST, “Secure Software Development Framework,” *Computer Security Resource Center*, 2026. ([NIST Computer Security Resource Center][7])</a:t>
            </a:r>
          </a:p>
          <a:p>
            <a:pPr marL="228600" indent="-228600">
              <a:buFont typeface="Arial" pitchFamily="34" charset="0"/>
              <a:buChar char="•"/>
            </a:pPr>
            <a:endParaRPr lang="en-US" sz="1400" b="1" dirty="0">
              <a:latin typeface="Cambria" pitchFamily="18" charset="0"/>
            </a:endParaRPr>
          </a:p>
          <a:p>
            <a:r>
              <a:rPr lang="en-US" sz="1400" b="1" dirty="0">
                <a:latin typeface="Cambria" pitchFamily="18" charset="0"/>
              </a:rPr>
              <a:t>[8] NIST, “NIST Updates the Secure Software Development Framework (SSDF),” Feb. 2022. ([NIST Computer Security Resource Center][8])</a:t>
            </a:r>
          </a:p>
          <a:p>
            <a:pPr marL="228600" indent="-228600">
              <a:buFont typeface="Arial" pitchFamily="34" charset="0"/>
              <a:buChar char="•"/>
            </a:pPr>
            <a:endParaRPr lang="en-US" sz="1400" b="1" dirty="0">
              <a:latin typeface="Cambria" pitchFamily="18" charset="0"/>
            </a:endParaRPr>
          </a:p>
          <a:p>
            <a:r>
              <a:rPr lang="en-US" sz="1400" b="1" dirty="0">
                <a:latin typeface="Cambria" pitchFamily="18" charset="0"/>
              </a:rPr>
              <a:t>[9] H. Booth, “Secure Software Development Framework Update and </a:t>
            </a:r>
            <a:r>
              <a:rPr lang="en-US" sz="1400" b="1" dirty="0" err="1">
                <a:latin typeface="Cambria" pitchFamily="18" charset="0"/>
              </a:rPr>
              <a:t>DevSecOps</a:t>
            </a:r>
            <a:r>
              <a:rPr lang="en-US" sz="1400" b="1" dirty="0">
                <a:latin typeface="Cambria" pitchFamily="18" charset="0"/>
              </a:rPr>
              <a:t> Project,” NIST CSRC Presentation, Jan. 2026. ([NIST Computer Security Resource Center][9])“</a:t>
            </a:r>
          </a:p>
          <a:p>
            <a:endParaRPr lang="en-US" sz="1400" b="1" dirty="0">
              <a:latin typeface="Cambria" pitchFamily="18" charset="0"/>
            </a:endParaRPr>
          </a:p>
          <a:p>
            <a:r>
              <a:rPr lang="en-US" sz="1400" b="1" dirty="0">
                <a:latin typeface="Cambria" pitchFamily="18" charset="0"/>
              </a:rPr>
              <a:t>[10] M. Ogata, “Secure Software Development Framework Update and </a:t>
            </a:r>
            <a:r>
              <a:rPr lang="en-US" sz="1400" b="1" dirty="0" err="1">
                <a:latin typeface="Cambria" pitchFamily="18" charset="0"/>
              </a:rPr>
              <a:t>DevSecOps</a:t>
            </a:r>
            <a:r>
              <a:rPr lang="en-US" sz="1400" b="1" dirty="0">
                <a:latin typeface="Cambria" pitchFamily="18" charset="0"/>
              </a:rPr>
              <a:t> Project,” NIST CSRC Presentation, May 2026. ([NIST Computer Security Resource Center][10])</a:t>
            </a:r>
          </a:p>
          <a:p>
            <a:endParaRPr lang="en-US" sz="1400" b="1" dirty="0">
              <a:latin typeface="Cambria" pitchFamily="18" charset="0"/>
            </a:endParaRPr>
          </a:p>
          <a:p>
            <a:r>
              <a:rPr lang="en-US" sz="1400" b="1" dirty="0">
                <a:latin typeface="Cambria" pitchFamily="18" charset="0"/>
              </a:rPr>
              <a:t>[11] L. Kleinrock, Queueing Systems, Volume 1: Theory. New York, NY, USA: Wiley, 1975.</a:t>
            </a:r>
          </a:p>
          <a:p>
            <a:endParaRPr lang="en-US" sz="1400" b="1" dirty="0">
              <a:latin typeface="Cambria" pitchFamily="18" charset="0"/>
            </a:endParaRPr>
          </a:p>
          <a:p>
            <a:r>
              <a:rPr lang="en-US" sz="1400" b="1" dirty="0">
                <a:latin typeface="Cambria" pitchFamily="18" charset="0"/>
              </a:rPr>
              <a:t>[12] D. Gross, J. F. Shortle, J. M. Thompson, and C. M. Harris, Fundamentals of Queueing Theory, 5th ed. Hoboken, NJ, USA: Wiley, 2018.</a:t>
            </a:r>
          </a:p>
          <a:p>
            <a:endParaRPr lang="en-US" sz="1400" b="1" dirty="0">
              <a:latin typeface="Cambria" pitchFamily="18" charset="0"/>
            </a:endParaRPr>
          </a:p>
          <a:p>
            <a:r>
              <a:rPr lang="en-US" sz="1400" b="1" dirty="0">
                <a:latin typeface="Cambria" pitchFamily="18" charset="0"/>
              </a:rPr>
              <a:t>[13] L. Kleinrock, Queueing Systems, Volume 2: Computer Applications. New York, NY, USA: Wiley, 1976.</a:t>
            </a:r>
          </a:p>
          <a:p>
            <a:endParaRPr lang="en-US" sz="1400" b="1" dirty="0">
              <a:latin typeface="Cambria" pitchFamily="18" charset="0"/>
            </a:endParaRPr>
          </a:p>
          <a:p>
            <a:r>
              <a:rPr lang="en-US" sz="1400" b="1" dirty="0">
                <a:latin typeface="Cambria" pitchFamily="18" charset="0"/>
              </a:rPr>
              <a:t>[14] J. Banks, J. S. Carson II, B. L. Nelson, and D. M. Nicol, Discrete-Event System Simulation, 5th ed. Upper Saddle River, NJ, USA: Pearson, 2010</a:t>
            </a:r>
          </a:p>
          <a:p>
            <a:endParaRPr lang="en-US" sz="1400" b="1" dirty="0">
              <a:latin typeface="Cambria" pitchFamily="18" charset="0"/>
            </a:endParaRPr>
          </a:p>
          <a:p>
            <a:r>
              <a:rPr lang="en-US" sz="1400" b="1" dirty="0">
                <a:latin typeface="Cambria" pitchFamily="18" charset="0"/>
              </a:rPr>
              <a:t>[15] A. M. Law, Simulation Modeling and Analysis, 5th ed. New York, NY, USA: McGraw-Hill Education, 2015.</a:t>
            </a:r>
          </a:p>
        </p:txBody>
      </p:sp>
    </p:spTree>
    <p:extLst>
      <p:ext uri="{BB962C8B-B14F-4D97-AF65-F5344CB8AC3E}">
        <p14:creationId xmlns:p14="http://schemas.microsoft.com/office/powerpoint/2010/main" val="232480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12772" y="2505852"/>
            <a:ext cx="6464841" cy="920750"/>
          </a:xfrm>
          <a:prstGeom prst="rect">
            <a:avLst/>
          </a:prstGeom>
          <a:effectLst>
            <a:glow rad="2286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wrap="square" lIns="91422" tIns="45711" rIns="91422" bIns="45711">
            <a:spAutoFit/>
          </a:bodyPr>
          <a:lstStyle/>
          <a:p>
            <a:pPr algn="ctr"/>
            <a:r>
              <a:rPr lang="en-US" sz="5400" b="1" spc="50" dirty="0">
                <a:ln w="0">
                  <a:solidFill>
                    <a:schemeClr val="accent6">
                      <a:lumMod val="50000"/>
                    </a:schemeClr>
                  </a:solidFill>
                </a:ln>
                <a:solidFill>
                  <a:schemeClr val="accent6">
                    <a:lumMod val="40000"/>
                    <a:lumOff val="60000"/>
                  </a:schemeClr>
                </a:solidFill>
                <a:effectLst>
                  <a:innerShdw blurRad="63500" dist="50800" dir="13500000">
                    <a:srgbClr val="000000">
                      <a:alpha val="50000"/>
                    </a:srgbClr>
                  </a:innerShdw>
                  <a:reflection blurRad="6350" stA="55000" endA="300" endPos="45500" dir="5400000" sy="-100000" algn="bl" rotWithShape="0"/>
                </a:effectLst>
              </a:rPr>
              <a:t>The End</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937*442"/>
  <p:tag name="TABLE_ENDDRAG_RECT" val="11*70*937*442"/>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941*393"/>
  <p:tag name="TABLE_ENDDRAG_RECT" val="8*99*941*39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TotalTime>
  <Words>2810</Words>
  <Application>Microsoft Office PowerPoint</Application>
  <PresentationFormat>Custom</PresentationFormat>
  <Paragraphs>390</Paragraphs>
  <Slides>24</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24</vt:i4>
      </vt:variant>
    </vt:vector>
  </HeadingPairs>
  <TitlesOfParts>
    <vt:vector size="31" baseType="lpstr">
      <vt:lpstr>Arial</vt:lpstr>
      <vt:lpstr>Calibri</vt:lpstr>
      <vt:lpstr>Calibri Light</vt:lpstr>
      <vt:lpstr>Cambria</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Simulation Results</vt:lpstr>
      <vt:lpstr>Statistical Summary</vt:lpstr>
      <vt:lpstr>Stastitical evaluation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vincent gnanaraj</dc:creator>
  <cp:lastModifiedBy>P SOMA SHANKAR REDDY</cp:lastModifiedBy>
  <cp:revision>25</cp:revision>
  <dcterms:created xsi:type="dcterms:W3CDTF">2025-08-11T02:48:00Z</dcterms:created>
  <dcterms:modified xsi:type="dcterms:W3CDTF">2026-08-24T08:52:32Z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E30AE06C265448D8BC36AEA115744C5F_13</vt:lpwstr>
  </property>
  <property fmtid="{D5CDD505-2E9C-101B-9397-08002B2CF9AE}" pid="3" name="KSOProductBuildVer">
    <vt:lpwstr>1033-12.1.0.28032</vt:lpwstr>
  </property>
</Properties>
</file>